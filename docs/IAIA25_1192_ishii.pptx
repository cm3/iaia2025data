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2" r:id="rId1"/>
  </p:sldMasterIdLst>
  <p:notesMasterIdLst>
    <p:notesMasterId r:id="rId21"/>
  </p:notesMasterIdLst>
  <p:sldIdLst>
    <p:sldId id="257" r:id="rId2"/>
    <p:sldId id="264" r:id="rId3"/>
    <p:sldId id="265" r:id="rId4"/>
    <p:sldId id="270" r:id="rId5"/>
    <p:sldId id="272" r:id="rId6"/>
    <p:sldId id="279" r:id="rId7"/>
    <p:sldId id="278" r:id="rId8"/>
    <p:sldId id="277" r:id="rId9"/>
    <p:sldId id="283" r:id="rId10"/>
    <p:sldId id="273" r:id="rId11"/>
    <p:sldId id="284" r:id="rId12"/>
    <p:sldId id="281" r:id="rId13"/>
    <p:sldId id="280" r:id="rId14"/>
    <p:sldId id="261" r:id="rId15"/>
    <p:sldId id="262" r:id="rId16"/>
    <p:sldId id="263" r:id="rId17"/>
    <p:sldId id="271" r:id="rId18"/>
    <p:sldId id="275" r:id="rId19"/>
    <p:sldId id="26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5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5DD979-33A6-4092-9727-22108B086EB3}" v="1" dt="2025-05-02T07:45:16.41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374" autoAdjust="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dma4792" userId="3de961ec-d32c-4c3a-83a3-ae5012353201" providerId="ADAL" clId="{015DD979-33A6-4092-9727-22108B086EB3}"/>
    <pc:docChg chg="custSel modSld">
      <pc:chgData name="cdma4792" userId="3de961ec-d32c-4c3a-83a3-ae5012353201" providerId="ADAL" clId="{015DD979-33A6-4092-9727-22108B086EB3}" dt="2025-05-02T08:09:49.773" v="80" actId="20577"/>
      <pc:docMkLst>
        <pc:docMk/>
      </pc:docMkLst>
      <pc:sldChg chg="addSp modSp mod">
        <pc:chgData name="cdma4792" userId="3de961ec-d32c-4c3a-83a3-ae5012353201" providerId="ADAL" clId="{015DD979-33A6-4092-9727-22108B086EB3}" dt="2025-05-02T07:46:05.393" v="24" actId="12788"/>
        <pc:sldMkLst>
          <pc:docMk/>
          <pc:sldMk cId="373590203" sldId="257"/>
        </pc:sldMkLst>
        <pc:spChg chg="add mod">
          <ac:chgData name="cdma4792" userId="3de961ec-d32c-4c3a-83a3-ae5012353201" providerId="ADAL" clId="{015DD979-33A6-4092-9727-22108B086EB3}" dt="2025-05-02T07:46:05.393" v="24" actId="12788"/>
          <ac:spMkLst>
            <pc:docMk/>
            <pc:sldMk cId="373590203" sldId="257"/>
            <ac:spMk id="2" creationId="{A4D2C597-FAAB-DD00-D21A-3F816B968C63}"/>
          </ac:spMkLst>
        </pc:spChg>
      </pc:sldChg>
      <pc:sldChg chg="modSp mod">
        <pc:chgData name="cdma4792" userId="3de961ec-d32c-4c3a-83a3-ae5012353201" providerId="ADAL" clId="{015DD979-33A6-4092-9727-22108B086EB3}" dt="2025-05-02T08:09:49.773" v="80" actId="20577"/>
        <pc:sldMkLst>
          <pc:docMk/>
          <pc:sldMk cId="3073786684" sldId="275"/>
        </pc:sldMkLst>
        <pc:spChg chg="mod">
          <ac:chgData name="cdma4792" userId="3de961ec-d32c-4c3a-83a3-ae5012353201" providerId="ADAL" clId="{015DD979-33A6-4092-9727-22108B086EB3}" dt="2025-05-02T08:09:49.773" v="80" actId="20577"/>
          <ac:spMkLst>
            <pc:docMk/>
            <pc:sldMk cId="3073786684" sldId="275"/>
            <ac:spMk id="2" creationId="{1D7F9425-1852-A8EB-6597-FB71854CF6C0}"/>
          </ac:spMkLst>
        </pc:spChg>
      </pc:sldChg>
      <pc:sldChg chg="modSp mod">
        <pc:chgData name="cdma4792" userId="3de961ec-d32c-4c3a-83a3-ae5012353201" providerId="ADAL" clId="{015DD979-33A6-4092-9727-22108B086EB3}" dt="2025-05-02T07:53:39.862" v="62" actId="12"/>
        <pc:sldMkLst>
          <pc:docMk/>
          <pc:sldMk cId="2626852388" sldId="283"/>
        </pc:sldMkLst>
        <pc:spChg chg="mod">
          <ac:chgData name="cdma4792" userId="3de961ec-d32c-4c3a-83a3-ae5012353201" providerId="ADAL" clId="{015DD979-33A6-4092-9727-22108B086EB3}" dt="2025-05-02T07:53:39.862" v="62" actId="12"/>
          <ac:spMkLst>
            <pc:docMk/>
            <pc:sldMk cId="2626852388" sldId="283"/>
            <ac:spMk id="2" creationId="{A066CFE3-6E7D-D2CC-1228-11BC60163956}"/>
          </ac:spMkLst>
        </pc:spChg>
      </pc:sldChg>
      <pc:sldChg chg="modSp mod">
        <pc:chgData name="cdma4792" userId="3de961ec-d32c-4c3a-83a3-ae5012353201" providerId="ADAL" clId="{015DD979-33A6-4092-9727-22108B086EB3}" dt="2025-05-02T07:53:30.171" v="57" actId="12"/>
        <pc:sldMkLst>
          <pc:docMk/>
          <pc:sldMk cId="259840859" sldId="284"/>
        </pc:sldMkLst>
        <pc:spChg chg="mod">
          <ac:chgData name="cdma4792" userId="3de961ec-d32c-4c3a-83a3-ae5012353201" providerId="ADAL" clId="{015DD979-33A6-4092-9727-22108B086EB3}" dt="2025-05-02T07:53:30.171" v="57" actId="12"/>
          <ac:spMkLst>
            <pc:docMk/>
            <pc:sldMk cId="259840859" sldId="284"/>
            <ac:spMk id="2" creationId="{9F04B09A-BABD-652C-666C-19816350215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6B517-EFB0-4D65-A20F-3B8FB55DF7F1}" type="datetimeFigureOut">
              <a:rPr kumimoji="1" lang="ja-JP" altLang="en-US" smtClean="0"/>
              <a:t>2025/5/2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05EA39-1D26-4105-A245-ACE2CD33B2E8}" type="slidenum">
              <a:rPr kumimoji="1" lang="ja-JP" altLang="en-US" smtClean="0"/>
              <a:t>‹#›</a:t>
            </a:fld>
            <a:endParaRPr kumimoji="1" lang="ja-JP" altLang="en-US"/>
          </a:p>
        </p:txBody>
      </p:sp>
    </p:spTree>
    <p:extLst>
      <p:ext uri="{BB962C8B-B14F-4D97-AF65-F5344CB8AC3E}">
        <p14:creationId xmlns:p14="http://schemas.microsoft.com/office/powerpoint/2010/main" val="388952709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6305EA39-1D26-4105-A245-ACE2CD33B2E8}" type="slidenum">
              <a:rPr kumimoji="1" lang="ja-JP" altLang="en-US" smtClean="0"/>
              <a:t>18</a:t>
            </a:fld>
            <a:endParaRPr kumimoji="1" lang="ja-JP" altLang="en-US"/>
          </a:p>
        </p:txBody>
      </p:sp>
    </p:spTree>
    <p:extLst>
      <p:ext uri="{BB962C8B-B14F-4D97-AF65-F5344CB8AC3E}">
        <p14:creationId xmlns:p14="http://schemas.microsoft.com/office/powerpoint/2010/main" val="235881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smtClean="0"/>
              <a:t>5/2/2025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7522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smtClean="0"/>
              <a:t>5/2/2025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t>‹#›</a:t>
            </a:fld>
            <a:endParaRPr lang="en-US" dirty="0"/>
          </a:p>
        </p:txBody>
      </p:sp>
    </p:spTree>
    <p:extLst>
      <p:ext uri="{BB962C8B-B14F-4D97-AF65-F5344CB8AC3E}">
        <p14:creationId xmlns:p14="http://schemas.microsoft.com/office/powerpoint/2010/main" val="4163688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0EBB0C4-6273-4C6E-B9BD-2EDC30F1CD52}" type="datetimeFigureOut">
              <a:rPr lang="en-US" smtClean="0"/>
              <a:t>5/2/2025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3403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smtClean="0"/>
              <a:t>5/2/2025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158906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smtClean="0"/>
              <a:t>5/2/2025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686905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smtClean="0"/>
              <a:t>5/2/2025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670389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smtClean="0"/>
              <a:t>5/2/2025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42114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smtClean="0"/>
              <a:t>5/2/2025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434169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9CAD897-D46E-4AD2-BD9B-49DD3E640873}" type="datetimeFigureOut">
              <a:rPr lang="en-US" smtClean="0"/>
              <a:t>5/2/2025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801409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smtClean="0"/>
              <a:t>5/2/2025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424121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smtClean="0"/>
              <a:t>5/2/2025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0160496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P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4458" y="667657"/>
            <a:ext cx="8897256" cy="2322286"/>
          </a:xfrm>
        </p:spPr>
        <p:txBody>
          <a:bodyPr anchor="t" anchorCtr="0"/>
          <a:lstStyle>
            <a:lvl1pPr>
              <a:defRPr/>
            </a:lvl1pPr>
          </a:lstStyle>
          <a:p>
            <a:r>
              <a:rPr lang="en-US" dirty="0"/>
              <a:t>Presentation Title</a:t>
            </a:r>
          </a:p>
        </p:txBody>
      </p:sp>
      <p:sp>
        <p:nvSpPr>
          <p:cNvPr id="7" name="Rectangle 6">
            <a:extLst>
              <a:ext uri="{FF2B5EF4-FFF2-40B4-BE49-F238E27FC236}">
                <a16:creationId xmlns:a16="http://schemas.microsoft.com/office/drawing/2014/main" id="{36B8C04E-47A8-436C-8075-09BCDE2AF890}"/>
              </a:ext>
            </a:extLst>
          </p:cNvPr>
          <p:cNvSpPr/>
          <p:nvPr userDrawn="1"/>
        </p:nvSpPr>
        <p:spPr>
          <a:xfrm>
            <a:off x="0" y="647360"/>
            <a:ext cx="290286" cy="90857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 Placeholder 3"/>
          <p:cNvSpPr>
            <a:spLocks noGrp="1"/>
          </p:cNvSpPr>
          <p:nvPr>
            <p:ph type="body" sz="half" idx="13" hasCustomPrompt="1"/>
          </p:nvPr>
        </p:nvSpPr>
        <p:spPr>
          <a:xfrm>
            <a:off x="2545043" y="4598943"/>
            <a:ext cx="6470537" cy="442003"/>
          </a:xfrm>
        </p:spPr>
        <p:txBody>
          <a:bodyPr>
            <a:normAutofit/>
          </a:bodyPr>
          <a:lstStyle>
            <a:lvl1pPr marL="0" indent="0" algn="r">
              <a:buNone/>
              <a:defRPr sz="2000" b="1"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Full Name</a:t>
            </a:r>
          </a:p>
        </p:txBody>
      </p:sp>
      <p:sp>
        <p:nvSpPr>
          <p:cNvPr id="12" name="Text Placeholder 3"/>
          <p:cNvSpPr>
            <a:spLocks noGrp="1"/>
          </p:cNvSpPr>
          <p:nvPr>
            <p:ph type="body" sz="half" idx="14" hasCustomPrompt="1"/>
          </p:nvPr>
        </p:nvSpPr>
        <p:spPr>
          <a:xfrm>
            <a:off x="2545043" y="5055403"/>
            <a:ext cx="6470537" cy="313739"/>
          </a:xfrm>
        </p:spPr>
        <p:txBody>
          <a:bodyPr>
            <a:normAutofit/>
          </a:bodyPr>
          <a:lstStyle>
            <a:lvl1pPr marL="0" indent="0" algn="r">
              <a:buNone/>
              <a:defRPr sz="1600" b="0" i="1"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Title / Organization </a:t>
            </a:r>
          </a:p>
        </p:txBody>
      </p:sp>
      <p:sp>
        <p:nvSpPr>
          <p:cNvPr id="13" name="Text Placeholder 3"/>
          <p:cNvSpPr>
            <a:spLocks noGrp="1"/>
          </p:cNvSpPr>
          <p:nvPr>
            <p:ph type="body" sz="half" idx="15" hasCustomPrompt="1"/>
          </p:nvPr>
        </p:nvSpPr>
        <p:spPr>
          <a:xfrm>
            <a:off x="2545043" y="5382571"/>
            <a:ext cx="6470537" cy="297228"/>
          </a:xfrm>
        </p:spPr>
        <p:txBody>
          <a:bodyPr>
            <a:normAutofit/>
          </a:bodyPr>
          <a:lstStyle>
            <a:lvl1pPr marL="0" indent="0" algn="r">
              <a:buNone/>
              <a:defRPr sz="1600" b="0" i="1"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Country</a:t>
            </a:r>
          </a:p>
        </p:txBody>
      </p:sp>
      <p:sp>
        <p:nvSpPr>
          <p:cNvPr id="15" name="Text Placeholder 3"/>
          <p:cNvSpPr>
            <a:spLocks noGrp="1"/>
          </p:cNvSpPr>
          <p:nvPr>
            <p:ph type="body" sz="half" idx="17" hasCustomPrompt="1"/>
          </p:nvPr>
        </p:nvSpPr>
        <p:spPr>
          <a:xfrm>
            <a:off x="2552303" y="6160038"/>
            <a:ext cx="6470537" cy="308999"/>
          </a:xfrm>
        </p:spPr>
        <p:txBody>
          <a:bodyPr>
            <a:normAutofit/>
          </a:bodyPr>
          <a:lstStyle>
            <a:lvl1pPr marL="0" indent="0" algn="r">
              <a:buNone/>
              <a:defRPr sz="1600" b="0" i="1"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Company website (optional)</a:t>
            </a:r>
          </a:p>
        </p:txBody>
      </p:sp>
      <p:sp>
        <p:nvSpPr>
          <p:cNvPr id="16" name="Text Placeholder 3"/>
          <p:cNvSpPr>
            <a:spLocks noGrp="1"/>
          </p:cNvSpPr>
          <p:nvPr>
            <p:ph type="body" sz="half" idx="18" hasCustomPrompt="1"/>
          </p:nvPr>
        </p:nvSpPr>
        <p:spPr>
          <a:xfrm>
            <a:off x="2545042" y="5765156"/>
            <a:ext cx="6470537" cy="308999"/>
          </a:xfrm>
        </p:spPr>
        <p:txBody>
          <a:bodyPr>
            <a:normAutofit/>
          </a:bodyPr>
          <a:lstStyle>
            <a:lvl1pPr marL="0" indent="0" algn="r">
              <a:buNone/>
              <a:defRPr sz="1600" b="0" i="1"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Social media handles (optional)</a:t>
            </a:r>
          </a:p>
        </p:txBody>
      </p:sp>
      <p:pic>
        <p:nvPicPr>
          <p:cNvPr id="5" name="Picture 4" descr="A logo with a city and text&#10;&#10;Description automatically generated with medium confidence">
            <a:extLst>
              <a:ext uri="{FF2B5EF4-FFF2-40B4-BE49-F238E27FC236}">
                <a16:creationId xmlns:a16="http://schemas.microsoft.com/office/drawing/2014/main" id="{766701DD-6181-4EFB-0CFF-5D75527BAA9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3931" t="12095" r="14089" b="19633"/>
          <a:stretch/>
        </p:blipFill>
        <p:spPr>
          <a:xfrm>
            <a:off x="6567204" y="3129412"/>
            <a:ext cx="2448375" cy="1414632"/>
          </a:xfrm>
          <a:prstGeom prst="rect">
            <a:avLst/>
          </a:prstGeom>
        </p:spPr>
      </p:pic>
    </p:spTree>
    <p:extLst>
      <p:ext uri="{BB962C8B-B14F-4D97-AF65-F5344CB8AC3E}">
        <p14:creationId xmlns:p14="http://schemas.microsoft.com/office/powerpoint/2010/main" val="25232564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Closing Slide Layout">
    <p:bg>
      <p:bgRef idx="1001">
        <a:schemeClr val="bg1"/>
      </p:bgRef>
    </p:bg>
    <p:spTree>
      <p:nvGrpSpPr>
        <p:cNvPr id="1" name=""/>
        <p:cNvGrpSpPr/>
        <p:nvPr/>
      </p:nvGrpSpPr>
      <p:grpSpPr>
        <a:xfrm>
          <a:off x="0" y="0"/>
          <a:ext cx="0" cy="0"/>
          <a:chOff x="0" y="0"/>
          <a:chExt cx="0" cy="0"/>
        </a:xfrm>
      </p:grpSpPr>
      <p:sp>
        <p:nvSpPr>
          <p:cNvPr id="16" name="Rectangle 15"/>
          <p:cNvSpPr/>
          <p:nvPr userDrawn="1"/>
        </p:nvSpPr>
        <p:spPr>
          <a:xfrm rot="10800000">
            <a:off x="0" y="5900056"/>
            <a:ext cx="4329682" cy="657225"/>
          </a:xfrm>
          <a:prstGeom prst="rect">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Placeholder 3"/>
          <p:cNvSpPr>
            <a:spLocks noGrp="1"/>
          </p:cNvSpPr>
          <p:nvPr>
            <p:ph type="body" sz="half" idx="13" hasCustomPrompt="1"/>
          </p:nvPr>
        </p:nvSpPr>
        <p:spPr>
          <a:xfrm>
            <a:off x="5056231" y="4700957"/>
            <a:ext cx="6470537" cy="442003"/>
          </a:xfrm>
        </p:spPr>
        <p:txBody>
          <a:bodyPr>
            <a:normAutofit/>
          </a:bodyPr>
          <a:lstStyle>
            <a:lvl1pPr marL="0" indent="0" algn="r">
              <a:buNone/>
              <a:defRPr sz="2000" b="1"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Full Name</a:t>
            </a:r>
          </a:p>
        </p:txBody>
      </p:sp>
      <p:sp>
        <p:nvSpPr>
          <p:cNvPr id="14" name="Text Placeholder 3"/>
          <p:cNvSpPr>
            <a:spLocks noGrp="1"/>
          </p:cNvSpPr>
          <p:nvPr>
            <p:ph type="body" sz="half" idx="14" hasCustomPrompt="1"/>
          </p:nvPr>
        </p:nvSpPr>
        <p:spPr>
          <a:xfrm>
            <a:off x="5056231" y="5157417"/>
            <a:ext cx="6470537" cy="313739"/>
          </a:xfrm>
        </p:spPr>
        <p:txBody>
          <a:bodyPr>
            <a:normAutofit/>
          </a:bodyPr>
          <a:lstStyle>
            <a:lvl1pPr marL="0" indent="0" algn="r">
              <a:buNone/>
              <a:defRPr sz="1600" b="0" i="1"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Title / Organization </a:t>
            </a:r>
          </a:p>
        </p:txBody>
      </p:sp>
      <p:sp>
        <p:nvSpPr>
          <p:cNvPr id="18" name="Text Placeholder 3"/>
          <p:cNvSpPr>
            <a:spLocks noGrp="1"/>
          </p:cNvSpPr>
          <p:nvPr>
            <p:ph type="body" sz="half" idx="15" hasCustomPrompt="1"/>
          </p:nvPr>
        </p:nvSpPr>
        <p:spPr>
          <a:xfrm>
            <a:off x="5056231" y="5484585"/>
            <a:ext cx="6470537" cy="297228"/>
          </a:xfrm>
        </p:spPr>
        <p:txBody>
          <a:bodyPr>
            <a:normAutofit/>
          </a:bodyPr>
          <a:lstStyle>
            <a:lvl1pPr marL="0" indent="0" algn="r">
              <a:buNone/>
              <a:defRPr sz="1600" b="0" i="1"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Country</a:t>
            </a:r>
          </a:p>
        </p:txBody>
      </p:sp>
      <p:sp>
        <p:nvSpPr>
          <p:cNvPr id="20" name="Text Placeholder 3"/>
          <p:cNvSpPr>
            <a:spLocks noGrp="1"/>
          </p:cNvSpPr>
          <p:nvPr>
            <p:ph type="body" sz="half" idx="17" hasCustomPrompt="1"/>
          </p:nvPr>
        </p:nvSpPr>
        <p:spPr>
          <a:xfrm>
            <a:off x="5063491" y="6223415"/>
            <a:ext cx="6470537" cy="308999"/>
          </a:xfrm>
        </p:spPr>
        <p:txBody>
          <a:bodyPr>
            <a:normAutofit/>
          </a:bodyPr>
          <a:lstStyle>
            <a:lvl1pPr marL="0" indent="0" algn="r">
              <a:buNone/>
              <a:defRPr sz="1600" b="0" i="1"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Company website (optional)</a:t>
            </a:r>
          </a:p>
        </p:txBody>
      </p:sp>
      <p:sp>
        <p:nvSpPr>
          <p:cNvPr id="21" name="Text Placeholder 3"/>
          <p:cNvSpPr>
            <a:spLocks noGrp="1"/>
          </p:cNvSpPr>
          <p:nvPr>
            <p:ph type="body" sz="half" idx="18" hasCustomPrompt="1"/>
          </p:nvPr>
        </p:nvSpPr>
        <p:spPr>
          <a:xfrm>
            <a:off x="5056230" y="5828533"/>
            <a:ext cx="6470537" cy="308999"/>
          </a:xfrm>
        </p:spPr>
        <p:txBody>
          <a:bodyPr>
            <a:normAutofit/>
          </a:bodyPr>
          <a:lstStyle>
            <a:lvl1pPr marL="0" indent="0" algn="r">
              <a:buNone/>
              <a:defRPr sz="1600" b="0" i="1"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Social media handles (optional)</a:t>
            </a:r>
          </a:p>
        </p:txBody>
      </p:sp>
      <p:sp>
        <p:nvSpPr>
          <p:cNvPr id="2" name="TextBox 1"/>
          <p:cNvSpPr txBox="1"/>
          <p:nvPr userDrawn="1"/>
        </p:nvSpPr>
        <p:spPr>
          <a:xfrm>
            <a:off x="642551" y="6133410"/>
            <a:ext cx="2139286" cy="523220"/>
          </a:xfrm>
          <a:prstGeom prst="rect">
            <a:avLst/>
          </a:prstGeom>
          <a:noFill/>
        </p:spPr>
        <p:txBody>
          <a:bodyPr wrap="square" rtlCol="0">
            <a:spAutoFit/>
          </a:bodyPr>
          <a:lstStyle/>
          <a:p>
            <a:r>
              <a:rPr lang="en-US" sz="2800" b="1" dirty="0">
                <a:solidFill>
                  <a:schemeClr val="accent2">
                    <a:lumMod val="50000"/>
                  </a:schemeClr>
                </a:solidFill>
              </a:rPr>
              <a:t>#iaia25</a:t>
            </a:r>
          </a:p>
        </p:txBody>
      </p:sp>
      <p:sp>
        <p:nvSpPr>
          <p:cNvPr id="3" name="TextBox 2"/>
          <p:cNvSpPr txBox="1"/>
          <p:nvPr userDrawn="1"/>
        </p:nvSpPr>
        <p:spPr>
          <a:xfrm>
            <a:off x="620154" y="2002541"/>
            <a:ext cx="8872152" cy="1754326"/>
          </a:xfrm>
          <a:prstGeom prst="rect">
            <a:avLst/>
          </a:prstGeom>
          <a:noFill/>
        </p:spPr>
        <p:txBody>
          <a:bodyPr wrap="square" rtlCol="0">
            <a:spAutoFit/>
          </a:bodyPr>
          <a:lstStyle/>
          <a:p>
            <a:r>
              <a:rPr lang="en-US" sz="4800" b="1" dirty="0">
                <a:latin typeface="+mn-lt"/>
              </a:rPr>
              <a:t>Let’s continue</a:t>
            </a:r>
            <a:r>
              <a:rPr lang="en-US" sz="4800" b="1" baseline="0" dirty="0">
                <a:latin typeface="+mn-lt"/>
              </a:rPr>
              <a:t> the conversation!</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800" b="1" dirty="0">
              <a:effectLst/>
              <a:latin typeface="Calibri" panose="020F0502020204030204" pitchFamily="34" charset="0"/>
              <a:ea typeface="Aptos" panose="020B0004020202020204" pitchFamily="34" charset="0"/>
              <a:cs typeface="Aptos" panose="020B00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800" b="1" dirty="0">
                <a:effectLst/>
                <a:latin typeface="Calibri" panose="020F0502020204030204" pitchFamily="34" charset="0"/>
                <a:ea typeface="Aptos" panose="020B0004020202020204" pitchFamily="34" charset="0"/>
                <a:cs typeface="Aptos" panose="020B0004020202020204" pitchFamily="34" charset="0"/>
              </a:rPr>
              <a:t>Message me your questions or comments in the IAIA25 app.</a:t>
            </a:r>
            <a:endParaRPr lang="en-US" sz="1800" dirty="0">
              <a:effectLst/>
              <a:latin typeface="Aptos" panose="020B0004020202020204" pitchFamily="34" charset="0"/>
              <a:ea typeface="Aptos" panose="020B0004020202020204" pitchFamily="34" charset="0"/>
              <a:cs typeface="Aptos" panose="020B0004020202020204" pitchFamily="34" charset="0"/>
            </a:endParaRPr>
          </a:p>
          <a:p>
            <a:endParaRPr lang="en-US" sz="2400" dirty="0">
              <a:latin typeface="+mn-lt"/>
            </a:endParaRPr>
          </a:p>
        </p:txBody>
      </p:sp>
      <p:pic>
        <p:nvPicPr>
          <p:cNvPr id="5" name="Picture 4" descr="A logo with a city and text&#10;&#10;Description automatically generated with medium confidence">
            <a:extLst>
              <a:ext uri="{FF2B5EF4-FFF2-40B4-BE49-F238E27FC236}">
                <a16:creationId xmlns:a16="http://schemas.microsoft.com/office/drawing/2014/main" id="{2E7D322D-3BF3-57CE-6A1B-93ED5A2BB824}"/>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3931" t="12095" r="14089" b="19633"/>
          <a:stretch/>
        </p:blipFill>
        <p:spPr>
          <a:xfrm>
            <a:off x="642551" y="300718"/>
            <a:ext cx="2448375" cy="1414632"/>
          </a:xfrm>
          <a:prstGeom prst="rect">
            <a:avLst/>
          </a:prstGeom>
        </p:spPr>
      </p:pic>
    </p:spTree>
    <p:extLst>
      <p:ext uri="{BB962C8B-B14F-4D97-AF65-F5344CB8AC3E}">
        <p14:creationId xmlns:p14="http://schemas.microsoft.com/office/powerpoint/2010/main" val="258900368"/>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ver Slide">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265309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smtClean="0"/>
              <a:t>5/2/2025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5943107"/>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649" r:id="rId14"/>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cm3/iaia2025data" TargetMode="External"/><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464458" y="667657"/>
            <a:ext cx="11281340" cy="2322286"/>
          </a:xfrm>
        </p:spPr>
        <p:txBody>
          <a:bodyPr/>
          <a:lstStyle/>
          <a:p>
            <a:r>
              <a:rPr lang="en-US" dirty="0"/>
              <a:t>Leveraging LLMs to Evaluate Public Comments on Japan's Environmental Plans</a:t>
            </a:r>
          </a:p>
        </p:txBody>
      </p:sp>
      <p:sp>
        <p:nvSpPr>
          <p:cNvPr id="11" name="Text Placeholder 10"/>
          <p:cNvSpPr>
            <a:spLocks noGrp="1"/>
          </p:cNvSpPr>
          <p:nvPr>
            <p:ph type="body" sz="half" idx="13"/>
          </p:nvPr>
        </p:nvSpPr>
        <p:spPr>
          <a:xfrm>
            <a:off x="2545043" y="4775533"/>
            <a:ext cx="6470537" cy="442003"/>
          </a:xfrm>
        </p:spPr>
        <p:txBody>
          <a:bodyPr/>
          <a:lstStyle/>
          <a:p>
            <a:r>
              <a:rPr lang="en-US" dirty="0"/>
              <a:t>Kohei ISHII</a:t>
            </a:r>
          </a:p>
        </p:txBody>
      </p:sp>
      <p:sp>
        <p:nvSpPr>
          <p:cNvPr id="12" name="Text Placeholder 11"/>
          <p:cNvSpPr>
            <a:spLocks noGrp="1"/>
          </p:cNvSpPr>
          <p:nvPr>
            <p:ph type="body" sz="half" idx="14"/>
          </p:nvPr>
        </p:nvSpPr>
        <p:spPr>
          <a:xfrm>
            <a:off x="2545043" y="5231993"/>
            <a:ext cx="6470537" cy="313739"/>
          </a:xfrm>
        </p:spPr>
        <p:txBody>
          <a:bodyPr>
            <a:normAutofit/>
          </a:bodyPr>
          <a:lstStyle/>
          <a:p>
            <a:r>
              <a:rPr lang="en-US" dirty="0"/>
              <a:t>PhD Student/Chiba University</a:t>
            </a:r>
          </a:p>
        </p:txBody>
      </p:sp>
      <p:sp>
        <p:nvSpPr>
          <p:cNvPr id="13" name="Text Placeholder 12"/>
          <p:cNvSpPr>
            <a:spLocks noGrp="1"/>
          </p:cNvSpPr>
          <p:nvPr>
            <p:ph type="body" sz="half" idx="15"/>
          </p:nvPr>
        </p:nvSpPr>
        <p:spPr>
          <a:xfrm>
            <a:off x="2545043" y="5559161"/>
            <a:ext cx="6470537" cy="297228"/>
          </a:xfrm>
        </p:spPr>
        <p:txBody>
          <a:bodyPr>
            <a:normAutofit lnSpcReduction="10000"/>
          </a:bodyPr>
          <a:lstStyle/>
          <a:p>
            <a:r>
              <a:rPr lang="en-US" dirty="0"/>
              <a:t>Japan</a:t>
            </a:r>
          </a:p>
        </p:txBody>
      </p:sp>
      <p:sp>
        <p:nvSpPr>
          <p:cNvPr id="15" name="Text Placeholder 14"/>
          <p:cNvSpPr>
            <a:spLocks noGrp="1"/>
          </p:cNvSpPr>
          <p:nvPr>
            <p:ph type="body" sz="half" idx="17"/>
          </p:nvPr>
        </p:nvSpPr>
        <p:spPr>
          <a:xfrm>
            <a:off x="2552303" y="6310870"/>
            <a:ext cx="6470537" cy="308999"/>
          </a:xfrm>
        </p:spPr>
        <p:txBody>
          <a:bodyPr>
            <a:normAutofit lnSpcReduction="10000"/>
          </a:bodyPr>
          <a:lstStyle/>
          <a:p>
            <a:r>
              <a:rPr lang="en-US" dirty="0"/>
              <a:t>E-mail: koukou1011.15@gmail.com</a:t>
            </a:r>
          </a:p>
        </p:txBody>
      </p:sp>
      <p:sp>
        <p:nvSpPr>
          <p:cNvPr id="16" name="Text Placeholder 15"/>
          <p:cNvSpPr>
            <a:spLocks noGrp="1"/>
          </p:cNvSpPr>
          <p:nvPr>
            <p:ph type="body" sz="half" idx="18"/>
          </p:nvPr>
        </p:nvSpPr>
        <p:spPr>
          <a:xfrm>
            <a:off x="2545042" y="5915988"/>
            <a:ext cx="6470537" cy="308999"/>
          </a:xfrm>
        </p:spPr>
        <p:txBody>
          <a:bodyPr>
            <a:normAutofit lnSpcReduction="10000"/>
          </a:bodyPr>
          <a:lstStyle/>
          <a:p>
            <a:r>
              <a:rPr lang="en-US" dirty="0"/>
              <a:t>Linked In: https://www.linkedin.com/in/kohei-ishii-a83bb2281/</a:t>
            </a:r>
          </a:p>
        </p:txBody>
      </p:sp>
      <p:sp>
        <p:nvSpPr>
          <p:cNvPr id="10" name="TextBox 9"/>
          <p:cNvSpPr txBox="1"/>
          <p:nvPr/>
        </p:nvSpPr>
        <p:spPr>
          <a:xfrm>
            <a:off x="9699284" y="4204484"/>
            <a:ext cx="2046514" cy="2400657"/>
          </a:xfrm>
          <a:prstGeom prst="rect">
            <a:avLst/>
          </a:prstGeom>
          <a:solidFill>
            <a:schemeClr val="bg1">
              <a:lumMod val="85000"/>
            </a:schemeClr>
          </a:solidFill>
        </p:spPr>
        <p:txBody>
          <a:bodyPr wrap="square" rtlCol="0">
            <a:spAutoFit/>
          </a:bodyPr>
          <a:lstStyle/>
          <a:p>
            <a:pPr algn="ctr"/>
            <a:r>
              <a:rPr lang="en-US" sz="1800" i="1" dirty="0">
                <a:solidFill>
                  <a:schemeClr val="bg1">
                    <a:lumMod val="50000"/>
                  </a:schemeClr>
                </a:solidFill>
              </a:rPr>
              <a:t>Insert presenter headshot here.</a:t>
            </a:r>
          </a:p>
          <a:p>
            <a:pPr algn="ctr"/>
            <a:endParaRPr lang="en-US" i="1" baseline="0" dirty="0">
              <a:solidFill>
                <a:schemeClr val="bg1">
                  <a:lumMod val="50000"/>
                </a:schemeClr>
              </a:solidFill>
            </a:endParaRPr>
          </a:p>
          <a:p>
            <a:pPr algn="ctr"/>
            <a:endParaRPr lang="en-US" sz="1800" i="1" dirty="0">
              <a:solidFill>
                <a:schemeClr val="bg1">
                  <a:lumMod val="50000"/>
                </a:schemeClr>
              </a:solidFill>
            </a:endParaRPr>
          </a:p>
          <a:p>
            <a:pPr algn="ctr"/>
            <a:endParaRPr lang="en-US" sz="1800" i="1" baseline="0" dirty="0">
              <a:solidFill>
                <a:schemeClr val="bg1">
                  <a:lumMod val="50000"/>
                </a:schemeClr>
              </a:solidFill>
            </a:endParaRPr>
          </a:p>
          <a:p>
            <a:pPr algn="ctr"/>
            <a:endParaRPr lang="en-US" sz="1500" i="1" baseline="0" dirty="0">
              <a:solidFill>
                <a:schemeClr val="bg1">
                  <a:lumMod val="50000"/>
                </a:schemeClr>
              </a:solidFill>
            </a:endParaRPr>
          </a:p>
          <a:p>
            <a:pPr algn="ctr"/>
            <a:r>
              <a:rPr lang="en-US" sz="1500" i="1" baseline="0" dirty="0">
                <a:solidFill>
                  <a:schemeClr val="bg1">
                    <a:lumMod val="50000"/>
                  </a:schemeClr>
                </a:solidFill>
              </a:rPr>
              <a:t>CLICK &amp; DELETE THIS TEXT BOX.</a:t>
            </a:r>
          </a:p>
          <a:p>
            <a:pPr algn="ctr"/>
            <a:endParaRPr lang="en-US" sz="1500" i="1" dirty="0">
              <a:solidFill>
                <a:schemeClr val="bg1">
                  <a:lumMod val="50000"/>
                </a:schemeClr>
              </a:solidFill>
            </a:endParaRPr>
          </a:p>
        </p:txBody>
      </p:sp>
      <p:pic>
        <p:nvPicPr>
          <p:cNvPr id="3" name="図 2">
            <a:extLst>
              <a:ext uri="{FF2B5EF4-FFF2-40B4-BE49-F238E27FC236}">
                <a16:creationId xmlns:a16="http://schemas.microsoft.com/office/drawing/2014/main" id="{E070B2C3-B4C9-BD80-0D3B-BC805D5064A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39697" y="4218669"/>
            <a:ext cx="2161972" cy="2401200"/>
          </a:xfrm>
          <a:prstGeom prst="rect">
            <a:avLst/>
          </a:prstGeom>
        </p:spPr>
      </p:pic>
      <p:sp>
        <p:nvSpPr>
          <p:cNvPr id="2" name="テキスト ボックス 1">
            <a:extLst>
              <a:ext uri="{FF2B5EF4-FFF2-40B4-BE49-F238E27FC236}">
                <a16:creationId xmlns:a16="http://schemas.microsoft.com/office/drawing/2014/main" id="{A4D2C597-FAAB-DD00-D21A-3F816B968C63}"/>
              </a:ext>
            </a:extLst>
          </p:cNvPr>
          <p:cNvSpPr txBox="1"/>
          <p:nvPr/>
        </p:nvSpPr>
        <p:spPr>
          <a:xfrm>
            <a:off x="2186940" y="2220855"/>
            <a:ext cx="7818120" cy="646331"/>
          </a:xfrm>
          <a:prstGeom prst="rect">
            <a:avLst/>
          </a:prstGeom>
          <a:noFill/>
        </p:spPr>
        <p:txBody>
          <a:bodyPr wrap="square" rtlCol="0">
            <a:spAutoFit/>
          </a:bodyPr>
          <a:lstStyle/>
          <a:p>
            <a:pPr algn="ctr"/>
            <a:r>
              <a:rPr lang="en-US" altLang="ja-JP" sz="3600" b="0" i="0" dirty="0">
                <a:effectLst/>
                <a:latin typeface="inherit"/>
                <a:hlinkClick r:id="rId3" tooltip="https://github.com/cm3/iaia2025data"/>
              </a:rPr>
              <a:t>https://github.com/cm3/iaia2025data</a:t>
            </a:r>
            <a:r>
              <a:rPr lang="en-US" altLang="ja-JP" sz="3600" b="0" i="0" dirty="0">
                <a:effectLst/>
                <a:latin typeface="gg sans"/>
              </a:rPr>
              <a:t> </a:t>
            </a:r>
            <a:endParaRPr kumimoji="1" lang="ja-JP" altLang="en-US" sz="3600" dirty="0"/>
          </a:p>
        </p:txBody>
      </p:sp>
    </p:spTree>
    <p:extLst>
      <p:ext uri="{BB962C8B-B14F-4D97-AF65-F5344CB8AC3E}">
        <p14:creationId xmlns:p14="http://schemas.microsoft.com/office/powerpoint/2010/main" val="373590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9761359-6B85-49F9-3109-3C4B1F634ED8}"/>
              </a:ext>
            </a:extLst>
          </p:cNvPr>
          <p:cNvSpPr txBox="1"/>
          <p:nvPr/>
        </p:nvSpPr>
        <p:spPr>
          <a:xfrm>
            <a:off x="1697025" y="252938"/>
            <a:ext cx="8797950" cy="5840060"/>
          </a:xfrm>
          <a:prstGeom prst="rect">
            <a:avLst/>
          </a:prstGeom>
          <a:noFill/>
        </p:spPr>
        <p:txBody>
          <a:bodyPr wrap="square" rtlCol="0">
            <a:spAutoFit/>
          </a:bodyPr>
          <a:lstStyle/>
          <a:p>
            <a:pPr marL="742950" indent="-742950">
              <a:lnSpc>
                <a:spcPct val="150000"/>
              </a:lnSpc>
              <a:buFont typeface="+mj-lt"/>
              <a:buAutoNum type="arabicPeriod"/>
            </a:pPr>
            <a:r>
              <a:rPr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Introduction</a:t>
            </a:r>
          </a:p>
          <a:p>
            <a:pPr marL="742950" indent="-742950">
              <a:lnSpc>
                <a:spcPct val="150000"/>
              </a:lnSpc>
              <a:buFont typeface="+mj-lt"/>
              <a:buAutoNum type="arabicPeriod"/>
            </a:pPr>
            <a:r>
              <a:rPr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Research objects</a:t>
            </a:r>
          </a:p>
          <a:p>
            <a:pPr marL="742950" indent="-742950">
              <a:lnSpc>
                <a:spcPct val="150000"/>
              </a:lnSpc>
              <a:buFont typeface="+mj-lt"/>
              <a:buAutoNum type="arabicPeriod"/>
            </a:pPr>
            <a:r>
              <a:rPr lang="en-US"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Data and Preprocessing</a:t>
            </a:r>
            <a:endParaRPr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endParaRPr>
          </a:p>
          <a:p>
            <a:pPr marL="742950" indent="-742950">
              <a:lnSpc>
                <a:spcPct val="150000"/>
              </a:lnSpc>
              <a:buFont typeface="+mj-lt"/>
              <a:buAutoNum type="arabicPeriod"/>
            </a:pPr>
            <a:r>
              <a:rPr kumimoji="1"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Methods</a:t>
            </a:r>
            <a:endParaRPr kumimoji="1" lang="en-US"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endParaRPr>
          </a:p>
          <a:p>
            <a:pPr marL="742950" indent="-742950">
              <a:lnSpc>
                <a:spcPct val="150000"/>
              </a:lnSpc>
              <a:buFont typeface="+mj-lt"/>
              <a:buAutoNum type="arabicPeriod"/>
            </a:pPr>
            <a:r>
              <a:rPr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Results</a:t>
            </a:r>
          </a:p>
          <a:p>
            <a:pPr marL="742950" indent="-742950">
              <a:lnSpc>
                <a:spcPct val="150000"/>
              </a:lnSpc>
              <a:buFont typeface="+mj-lt"/>
              <a:buAutoNum type="arabicPeriod"/>
            </a:pPr>
            <a:r>
              <a:rPr kumimoji="1"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Conclusion</a:t>
            </a:r>
          </a:p>
          <a:p>
            <a:pPr marL="742950" indent="-742950">
              <a:lnSpc>
                <a:spcPct val="150000"/>
              </a:lnSpc>
              <a:buFont typeface="+mj-lt"/>
              <a:buAutoNum type="arabicPeriod"/>
            </a:pPr>
            <a:r>
              <a:rPr lang="en-US"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Limitations and Future Works</a:t>
            </a:r>
            <a:endParaRPr kumimoji="1"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099724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3ED77DE-54B8-F893-8FEB-42D2784090D7}"/>
              </a:ext>
            </a:extLst>
          </p:cNvPr>
          <p:cNvSpPr txBox="1"/>
          <p:nvPr/>
        </p:nvSpPr>
        <p:spPr>
          <a:xfrm>
            <a:off x="346392" y="1213008"/>
            <a:ext cx="11499216" cy="4862870"/>
          </a:xfrm>
          <a:prstGeom prst="rect">
            <a:avLst/>
          </a:prstGeom>
          <a:noFill/>
        </p:spPr>
        <p:txBody>
          <a:bodyPr wrap="square" rtlCol="0">
            <a:spAutoFit/>
          </a:bodyPr>
          <a:lstStyle/>
          <a:p>
            <a:pPr marL="514350" indent="-514350">
              <a:spcBef>
                <a:spcPts val="6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Public comments are essential for participatory policymaking.</a:t>
            </a:r>
          </a:p>
          <a:p>
            <a:pPr marL="514350" indent="-514350">
              <a:spcBef>
                <a:spcPts val="6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Japan's public comment system often criticized as superficial.</a:t>
            </a:r>
          </a:p>
          <a:p>
            <a:pPr marL="514350" indent="-514350">
              <a:spcBef>
                <a:spcPts val="6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Strategic Environmental Assessment (SEA) emphasizes consensus building.</a:t>
            </a:r>
          </a:p>
          <a:p>
            <a:pPr marL="514350" indent="-514350">
              <a:spcBef>
                <a:spcPts val="6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a:t>
            </a:r>
            <a:r>
              <a:rPr lang="en-US" altLang="ja-JP" sz="28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Meaningful Reply</a:t>
            </a: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 proposed to enhance genuine participation (</a:t>
            </a:r>
            <a:r>
              <a:rPr lang="en-US" altLang="ja-JP" sz="2800" dirty="0" err="1">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Harashina</a:t>
            </a: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 2005).</a:t>
            </a:r>
          </a:p>
          <a:p>
            <a:pPr marL="514350" indent="-514350">
              <a:spcBef>
                <a:spcPts val="600"/>
              </a:spcBef>
              <a:buFont typeface="Arial" panose="020B0604020202020204" pitchFamily="34" charset="0"/>
              <a:buChar char="•"/>
            </a:pPr>
            <a:r>
              <a:rPr lang="en-US" altLang="ja-JP" sz="28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This study explores public comment influence in environmental policy.</a:t>
            </a:r>
          </a:p>
          <a:p>
            <a:pPr marL="514350" indent="-514350">
              <a:spcBef>
                <a:spcPts val="6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Focus: </a:t>
            </a:r>
            <a:r>
              <a:rPr lang="en-US" altLang="ja-JP" sz="28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Sixth Basic Environmental Plan</a:t>
            </a:r>
          </a:p>
          <a:p>
            <a:pPr marL="514350" indent="-514350">
              <a:spcBef>
                <a:spcPts val="6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Approach: </a:t>
            </a:r>
            <a:r>
              <a:rPr lang="en-US" altLang="ja-JP" sz="28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Introduce AI-assisted evaluation</a:t>
            </a:r>
          </a:p>
        </p:txBody>
      </p:sp>
      <p:sp>
        <p:nvSpPr>
          <p:cNvPr id="3" name="テキスト ボックス 2">
            <a:extLst>
              <a:ext uri="{FF2B5EF4-FFF2-40B4-BE49-F238E27FC236}">
                <a16:creationId xmlns:a16="http://schemas.microsoft.com/office/drawing/2014/main" id="{9DDDC40E-0747-6363-5205-0E46E6DDB1BE}"/>
              </a:ext>
            </a:extLst>
          </p:cNvPr>
          <p:cNvSpPr txBox="1"/>
          <p:nvPr/>
        </p:nvSpPr>
        <p:spPr>
          <a:xfrm>
            <a:off x="2257246" y="0"/>
            <a:ext cx="7677509" cy="854080"/>
          </a:xfrm>
          <a:prstGeom prst="rect">
            <a:avLst/>
          </a:prstGeom>
          <a:noFill/>
          <a:ln w="19050">
            <a:noFill/>
          </a:ln>
          <a:effectLst>
            <a:outerShdw blurRad="50800" dist="38100" dir="2700000" algn="tl" rotWithShape="0">
              <a:prstClr val="black">
                <a:alpha val="40000"/>
              </a:prstClr>
            </a:outerShdw>
          </a:effectLst>
        </p:spPr>
        <p:txBody>
          <a:bodyPr wrap="square" rtlCol="0">
            <a:spAutoFit/>
          </a:bodyPr>
          <a:lstStyle/>
          <a:p>
            <a:pPr algn="ctr">
              <a:lnSpc>
                <a:spcPct val="150000"/>
              </a:lnSpc>
            </a:pPr>
            <a:r>
              <a:rPr kumimoji="1"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1. </a:t>
            </a:r>
            <a:r>
              <a:rPr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Introduction</a:t>
            </a:r>
          </a:p>
        </p:txBody>
      </p:sp>
    </p:spTree>
    <p:extLst>
      <p:ext uri="{BB962C8B-B14F-4D97-AF65-F5344CB8AC3E}">
        <p14:creationId xmlns:p14="http://schemas.microsoft.com/office/powerpoint/2010/main" val="4112465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10014-1F47-8DD8-D112-CF3357796338}"/>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DEF7B603-E8C8-A03E-63BC-951DBF80BE12}"/>
              </a:ext>
            </a:extLst>
          </p:cNvPr>
          <p:cNvSpPr txBox="1"/>
          <p:nvPr/>
        </p:nvSpPr>
        <p:spPr>
          <a:xfrm>
            <a:off x="1166241" y="1043731"/>
            <a:ext cx="9859518" cy="4770537"/>
          </a:xfrm>
          <a:prstGeom prst="rect">
            <a:avLst/>
          </a:prstGeom>
          <a:noFill/>
        </p:spPr>
        <p:txBody>
          <a:bodyPr wrap="square" rtlCol="0">
            <a:spAutoFit/>
          </a:bodyPr>
          <a:lstStyle/>
          <a:p>
            <a:pPr marL="457200" indent="-457200">
              <a:lnSpc>
                <a:spcPct val="150000"/>
              </a:lnSpc>
              <a:spcBef>
                <a:spcPts val="1200"/>
              </a:spcBef>
              <a:buFont typeface="Arial" panose="020B0604020202020204" pitchFamily="34" charset="0"/>
              <a:buChar char="•"/>
            </a:pPr>
            <a:r>
              <a:rPr kumimoji="1" lang="en-US" altLang="ja-JP" sz="3200" b="1" dirty="0">
                <a:solidFill>
                  <a:srgbClr val="C00000"/>
                </a:solidFill>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Analyze contribution of public comments to policy documents drafting</a:t>
            </a:r>
          </a:p>
          <a:p>
            <a:pPr marL="457200" indent="-457200">
              <a:lnSpc>
                <a:spcPct val="150000"/>
              </a:lnSpc>
              <a:spcBef>
                <a:spcPts val="1200"/>
              </a:spcBef>
              <a:buFont typeface="Arial" panose="020B0604020202020204" pitchFamily="34" charset="0"/>
              <a:buChar char="•"/>
            </a:pPr>
            <a:r>
              <a:rPr kumimoji="1" lang="en-US" altLang="ja-JP" sz="3200" b="1" dirty="0">
                <a:solidFill>
                  <a:srgbClr val="C00000"/>
                </a:solidFill>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Score administrative responses using “Meaningful Reply” scale</a:t>
            </a:r>
          </a:p>
          <a:p>
            <a:pPr marL="457200" indent="-457200">
              <a:lnSpc>
                <a:spcPct val="150000"/>
              </a:lnSpc>
              <a:spcBef>
                <a:spcPts val="1200"/>
              </a:spcBef>
              <a:buFont typeface="Arial" panose="020B0604020202020204" pitchFamily="34" charset="0"/>
              <a:buChar char="•"/>
            </a:pPr>
            <a:r>
              <a:rPr kumimoji="1" lang="en-US" altLang="ja-JP" sz="3200" b="1" dirty="0">
                <a:solidFill>
                  <a:srgbClr val="C00000"/>
                </a:solidFill>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Compare responsiveness across different comments categories</a:t>
            </a:r>
          </a:p>
        </p:txBody>
      </p:sp>
      <p:sp>
        <p:nvSpPr>
          <p:cNvPr id="10" name="テキスト ボックス 9">
            <a:extLst>
              <a:ext uri="{FF2B5EF4-FFF2-40B4-BE49-F238E27FC236}">
                <a16:creationId xmlns:a16="http://schemas.microsoft.com/office/drawing/2014/main" id="{193A29D2-45F2-ECEA-8DE1-18F219E24319}"/>
              </a:ext>
            </a:extLst>
          </p:cNvPr>
          <p:cNvSpPr txBox="1"/>
          <p:nvPr/>
        </p:nvSpPr>
        <p:spPr>
          <a:xfrm>
            <a:off x="2257246" y="0"/>
            <a:ext cx="7677509" cy="854080"/>
          </a:xfrm>
          <a:prstGeom prst="rect">
            <a:avLst/>
          </a:prstGeom>
          <a:noFill/>
          <a:ln w="19050">
            <a:noFill/>
          </a:ln>
          <a:effectLst>
            <a:outerShdw blurRad="50800" dist="38100" dir="2700000" algn="tl" rotWithShape="0">
              <a:prstClr val="black">
                <a:alpha val="40000"/>
              </a:prstClr>
            </a:outerShdw>
          </a:effectLst>
        </p:spPr>
        <p:txBody>
          <a:bodyPr wrap="square" rtlCol="0">
            <a:spAutoFit/>
          </a:bodyPr>
          <a:lstStyle/>
          <a:p>
            <a:pPr algn="ctr">
              <a:lnSpc>
                <a:spcPct val="150000"/>
              </a:lnSpc>
            </a:pPr>
            <a:r>
              <a:rPr kumimoji="1"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2. Research </a:t>
            </a:r>
            <a:r>
              <a:rPr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Objects</a:t>
            </a:r>
            <a:endParaRPr kumimoji="1" lang="en-US"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074814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636A0-FA71-D04F-3A42-AF00B4A40832}"/>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15FF5BB3-B769-718D-F590-1E3C0FF4CEE3}"/>
              </a:ext>
            </a:extLst>
          </p:cNvPr>
          <p:cNvSpPr txBox="1"/>
          <p:nvPr/>
        </p:nvSpPr>
        <p:spPr>
          <a:xfrm>
            <a:off x="2257246" y="0"/>
            <a:ext cx="7677509" cy="854080"/>
          </a:xfrm>
          <a:prstGeom prst="rect">
            <a:avLst/>
          </a:prstGeom>
          <a:noFill/>
          <a:ln w="19050">
            <a:noFill/>
          </a:ln>
          <a:effectLst>
            <a:outerShdw blurRad="50800" dist="38100" dir="2700000" algn="tl" rotWithShape="0">
              <a:prstClr val="black">
                <a:alpha val="40000"/>
              </a:prstClr>
            </a:outerShdw>
          </a:effectLst>
        </p:spPr>
        <p:txBody>
          <a:bodyPr wrap="square" rtlCol="0">
            <a:spAutoFit/>
          </a:bodyPr>
          <a:lstStyle/>
          <a:p>
            <a:pPr algn="ctr">
              <a:lnSpc>
                <a:spcPct val="150000"/>
              </a:lnSpc>
            </a:pPr>
            <a:r>
              <a:rPr kumimoji="1"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3. </a:t>
            </a:r>
            <a:r>
              <a:rPr lang="en-US"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Data and Preprocessing</a:t>
            </a:r>
            <a:endParaRPr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B6C4640F-947F-05E2-17C1-CED8471FC165}"/>
              </a:ext>
            </a:extLst>
          </p:cNvPr>
          <p:cNvPicPr>
            <a:picLocks noChangeAspect="1"/>
          </p:cNvPicPr>
          <p:nvPr/>
        </p:nvPicPr>
        <p:blipFill>
          <a:blip r:embed="rId2"/>
          <a:srcRect l="13787" t="22133" r="20442" b="3467"/>
          <a:stretch/>
        </p:blipFill>
        <p:spPr>
          <a:xfrm>
            <a:off x="2033311" y="854080"/>
            <a:ext cx="8125378" cy="5400000"/>
          </a:xfrm>
          <a:prstGeom prst="rect">
            <a:avLst/>
          </a:prstGeom>
        </p:spPr>
      </p:pic>
      <p:sp>
        <p:nvSpPr>
          <p:cNvPr id="8" name="テキスト ボックス 7">
            <a:extLst>
              <a:ext uri="{FF2B5EF4-FFF2-40B4-BE49-F238E27FC236}">
                <a16:creationId xmlns:a16="http://schemas.microsoft.com/office/drawing/2014/main" id="{A3E3DE35-B84D-8E56-8B99-7D5A93722B35}"/>
              </a:ext>
            </a:extLst>
          </p:cNvPr>
          <p:cNvSpPr txBox="1"/>
          <p:nvPr/>
        </p:nvSpPr>
        <p:spPr>
          <a:xfrm>
            <a:off x="6501845" y="6003920"/>
            <a:ext cx="5519396" cy="307777"/>
          </a:xfrm>
          <a:prstGeom prst="rect">
            <a:avLst/>
          </a:prstGeom>
          <a:noFill/>
        </p:spPr>
        <p:txBody>
          <a:bodyPr wrap="none" rtlCol="0">
            <a:spAutoFit/>
          </a:bodyPr>
          <a:lstStyle/>
          <a:p>
            <a:r>
              <a:rPr kumimoji="1" lang="en-US" altLang="ja-JP" sz="1400" dirty="0">
                <a:latin typeface="Meiryo UI" panose="020B0604030504040204" pitchFamily="50" charset="-128"/>
                <a:ea typeface="Meiryo UI" panose="020B0604030504040204" pitchFamily="50" charset="-128"/>
              </a:rPr>
              <a:t>https://www.env.go.jp/council/content/i_01/000281036.pdf</a:t>
            </a:r>
            <a:endParaRPr kumimoji="1" lang="ja-JP" altLang="en-US" sz="1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982642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499D7-04D7-B2C8-2C4A-4A09B0FAC836}"/>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2F70380B-F31E-8013-E246-D45953367C6B}"/>
              </a:ext>
            </a:extLst>
          </p:cNvPr>
          <p:cNvSpPr txBox="1"/>
          <p:nvPr/>
        </p:nvSpPr>
        <p:spPr>
          <a:xfrm>
            <a:off x="2257246" y="0"/>
            <a:ext cx="7677509" cy="854080"/>
          </a:xfrm>
          <a:prstGeom prst="rect">
            <a:avLst/>
          </a:prstGeom>
          <a:noFill/>
          <a:ln w="19050">
            <a:noFill/>
          </a:ln>
          <a:effectLst>
            <a:outerShdw blurRad="50800" dist="38100" dir="2700000" algn="tl" rotWithShape="0">
              <a:prstClr val="black">
                <a:alpha val="40000"/>
              </a:prstClr>
            </a:outerShdw>
          </a:effectLst>
        </p:spPr>
        <p:txBody>
          <a:bodyPr wrap="square" rtlCol="0">
            <a:spAutoFit/>
          </a:bodyPr>
          <a:lstStyle/>
          <a:p>
            <a:pPr algn="ctr">
              <a:lnSpc>
                <a:spcPct val="150000"/>
              </a:lnSpc>
            </a:pPr>
            <a:r>
              <a:rPr kumimoji="1"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3. </a:t>
            </a:r>
            <a:r>
              <a:rPr lang="en-US"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Data and Preprocessing</a:t>
            </a:r>
            <a:endParaRPr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endParaRPr>
          </a:p>
        </p:txBody>
      </p:sp>
      <p:sp>
        <p:nvSpPr>
          <p:cNvPr id="2" name="テキスト ボックス 1">
            <a:extLst>
              <a:ext uri="{FF2B5EF4-FFF2-40B4-BE49-F238E27FC236}">
                <a16:creationId xmlns:a16="http://schemas.microsoft.com/office/drawing/2014/main" id="{74A816F8-B32F-DCCE-1704-92E5DB0B96EA}"/>
              </a:ext>
            </a:extLst>
          </p:cNvPr>
          <p:cNvSpPr txBox="1"/>
          <p:nvPr/>
        </p:nvSpPr>
        <p:spPr>
          <a:xfrm>
            <a:off x="397038" y="854080"/>
            <a:ext cx="11397925" cy="1031051"/>
          </a:xfrm>
          <a:prstGeom prst="rect">
            <a:avLst/>
          </a:prstGeom>
          <a:noFill/>
        </p:spPr>
        <p:txBody>
          <a:bodyPr wrap="square" rtlCol="0">
            <a:spAutoFit/>
          </a:bodyPr>
          <a:lstStyle/>
          <a:p>
            <a:pPr>
              <a:spcBef>
                <a:spcPts val="600"/>
              </a:spcBef>
            </a:pPr>
            <a:r>
              <a:rPr lang="en-US" altLang="ja-JP" sz="28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Public Comment File (CSV)</a:t>
            </a: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 </a:t>
            </a:r>
          </a:p>
          <a:p>
            <a:pPr marL="457200" indent="-457200">
              <a:spcBef>
                <a:spcPts val="600"/>
              </a:spcBef>
              <a:buFont typeface="Arial" panose="020B0604020202020204" pitchFamily="34" charset="0"/>
              <a:buChar char="•"/>
            </a:pPr>
            <a:r>
              <a:rPr lang="en-US" altLang="ja-JP" sz="28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Public comments </a:t>
            </a: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and corresponding </a:t>
            </a:r>
            <a:r>
              <a:rPr lang="en-US" altLang="ja-JP" sz="28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administrative replies</a:t>
            </a:r>
          </a:p>
        </p:txBody>
      </p:sp>
      <p:pic>
        <p:nvPicPr>
          <p:cNvPr id="5" name="図 4">
            <a:extLst>
              <a:ext uri="{FF2B5EF4-FFF2-40B4-BE49-F238E27FC236}">
                <a16:creationId xmlns:a16="http://schemas.microsoft.com/office/drawing/2014/main" id="{AAB889AE-F998-C509-82C8-61742070ABB4}"/>
              </a:ext>
            </a:extLst>
          </p:cNvPr>
          <p:cNvPicPr>
            <a:picLocks noChangeAspect="1"/>
          </p:cNvPicPr>
          <p:nvPr/>
        </p:nvPicPr>
        <p:blipFill>
          <a:blip r:embed="rId2"/>
          <a:srcRect l="19711" t="25243" r="19502" b="12453"/>
          <a:stretch/>
        </p:blipFill>
        <p:spPr>
          <a:xfrm>
            <a:off x="2478000" y="1885131"/>
            <a:ext cx="7236000" cy="4357247"/>
          </a:xfrm>
          <a:prstGeom prst="rect">
            <a:avLst/>
          </a:prstGeom>
        </p:spPr>
      </p:pic>
      <p:sp>
        <p:nvSpPr>
          <p:cNvPr id="6" name="テキスト ボックス 5">
            <a:extLst>
              <a:ext uri="{FF2B5EF4-FFF2-40B4-BE49-F238E27FC236}">
                <a16:creationId xmlns:a16="http://schemas.microsoft.com/office/drawing/2014/main" id="{B4D8A26F-B782-506A-904B-119538926C08}"/>
              </a:ext>
            </a:extLst>
          </p:cNvPr>
          <p:cNvSpPr txBox="1"/>
          <p:nvPr/>
        </p:nvSpPr>
        <p:spPr>
          <a:xfrm>
            <a:off x="6501845" y="6003920"/>
            <a:ext cx="5519396" cy="307777"/>
          </a:xfrm>
          <a:prstGeom prst="rect">
            <a:avLst/>
          </a:prstGeom>
          <a:noFill/>
        </p:spPr>
        <p:txBody>
          <a:bodyPr wrap="none" rtlCol="0">
            <a:spAutoFit/>
          </a:bodyPr>
          <a:lstStyle/>
          <a:p>
            <a:r>
              <a:rPr kumimoji="1" lang="en-US" altLang="ja-JP" sz="1400" dirty="0">
                <a:latin typeface="Meiryo UI" panose="020B0604030504040204" pitchFamily="50" charset="-128"/>
                <a:ea typeface="Meiryo UI" panose="020B0604030504040204" pitchFamily="50" charset="-128"/>
              </a:rPr>
              <a:t>https://www.env.go.jp/council/content/i_01/000222792.pdf</a:t>
            </a:r>
            <a:endParaRPr kumimoji="1" lang="ja-JP" altLang="en-US" sz="1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041380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0B5E3-31C0-AEC0-7894-65932D3E00F3}"/>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9D3C9573-D9D6-5227-41F0-0851B3DA2A4E}"/>
              </a:ext>
            </a:extLst>
          </p:cNvPr>
          <p:cNvSpPr txBox="1"/>
          <p:nvPr/>
        </p:nvSpPr>
        <p:spPr>
          <a:xfrm>
            <a:off x="2257246" y="0"/>
            <a:ext cx="7677509" cy="854080"/>
          </a:xfrm>
          <a:prstGeom prst="rect">
            <a:avLst/>
          </a:prstGeom>
          <a:noFill/>
          <a:ln w="19050">
            <a:noFill/>
          </a:ln>
          <a:effectLst>
            <a:outerShdw blurRad="50800" dist="38100" dir="2700000" algn="tl" rotWithShape="0">
              <a:prstClr val="black">
                <a:alpha val="40000"/>
              </a:prstClr>
            </a:outerShdw>
          </a:effectLst>
        </p:spPr>
        <p:txBody>
          <a:bodyPr wrap="square" rtlCol="0">
            <a:spAutoFit/>
          </a:bodyPr>
          <a:lstStyle/>
          <a:p>
            <a:pPr algn="ctr">
              <a:lnSpc>
                <a:spcPct val="150000"/>
              </a:lnSpc>
            </a:pPr>
            <a:r>
              <a:rPr kumimoji="1"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3. </a:t>
            </a:r>
            <a:r>
              <a:rPr lang="en-US"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Data and Preprocessing</a:t>
            </a:r>
            <a:endParaRPr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endParaRPr>
          </a:p>
        </p:txBody>
      </p:sp>
      <p:pic>
        <p:nvPicPr>
          <p:cNvPr id="4" name="図 3">
            <a:extLst>
              <a:ext uri="{FF2B5EF4-FFF2-40B4-BE49-F238E27FC236}">
                <a16:creationId xmlns:a16="http://schemas.microsoft.com/office/drawing/2014/main" id="{A08708D9-A4CF-3BE6-2D74-1594FF259607}"/>
              </a:ext>
            </a:extLst>
          </p:cNvPr>
          <p:cNvPicPr>
            <a:picLocks noChangeAspect="1"/>
          </p:cNvPicPr>
          <p:nvPr/>
        </p:nvPicPr>
        <p:blipFill>
          <a:blip r:embed="rId2"/>
          <a:srcRect l="29973" t="23467" r="29607" b="3734"/>
          <a:stretch/>
        </p:blipFill>
        <p:spPr>
          <a:xfrm>
            <a:off x="6355079" y="733363"/>
            <a:ext cx="5095049" cy="5391272"/>
          </a:xfrm>
          <a:prstGeom prst="rect">
            <a:avLst/>
          </a:prstGeom>
        </p:spPr>
      </p:pic>
      <p:sp>
        <p:nvSpPr>
          <p:cNvPr id="5" name="テキスト ボックス 4">
            <a:extLst>
              <a:ext uri="{FF2B5EF4-FFF2-40B4-BE49-F238E27FC236}">
                <a16:creationId xmlns:a16="http://schemas.microsoft.com/office/drawing/2014/main" id="{695BFB02-1605-E702-E8F8-FDF1814F3E29}"/>
              </a:ext>
            </a:extLst>
          </p:cNvPr>
          <p:cNvSpPr txBox="1"/>
          <p:nvPr/>
        </p:nvSpPr>
        <p:spPr>
          <a:xfrm>
            <a:off x="710183" y="1490006"/>
            <a:ext cx="5644896" cy="3877985"/>
          </a:xfrm>
          <a:prstGeom prst="rect">
            <a:avLst/>
          </a:prstGeom>
          <a:noFill/>
        </p:spPr>
        <p:txBody>
          <a:bodyPr wrap="square" rtlCol="0">
            <a:spAutoFit/>
          </a:bodyPr>
          <a:lstStyle/>
          <a:p>
            <a:pPr>
              <a:lnSpc>
                <a:spcPct val="150000"/>
              </a:lnSpc>
              <a:spcBef>
                <a:spcPts val="600"/>
              </a:spcBef>
            </a:pPr>
            <a:r>
              <a:rPr lang="en-US" altLang="ja-JP" sz="32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Change Log File (CSV):</a:t>
            </a:r>
          </a:p>
          <a:p>
            <a:pPr marL="457200" indent="-457200">
              <a:lnSpc>
                <a:spcPct val="150000"/>
              </a:lnSpc>
              <a:spcBef>
                <a:spcPts val="600"/>
              </a:spcBef>
              <a:buFont typeface="Arial" panose="020B0604020202020204" pitchFamily="34" charset="0"/>
              <a:buChar char="•"/>
            </a:pPr>
            <a:r>
              <a:rPr lang="en-US" altLang="ja-JP" sz="32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Revisions between draft and revised plan</a:t>
            </a:r>
          </a:p>
          <a:p>
            <a:pPr marL="457200" indent="-457200">
              <a:lnSpc>
                <a:spcPct val="150000"/>
              </a:lnSpc>
              <a:spcBef>
                <a:spcPts val="600"/>
              </a:spcBef>
              <a:buFont typeface="Arial" panose="020B0604020202020204" pitchFamily="34" charset="0"/>
              <a:buChar char="•"/>
            </a:pPr>
            <a:r>
              <a:rPr lang="en-US" altLang="ja-JP" sz="32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Include in “Add” and “Delete”</a:t>
            </a:r>
          </a:p>
        </p:txBody>
      </p:sp>
      <p:sp>
        <p:nvSpPr>
          <p:cNvPr id="6" name="テキスト ボックス 5">
            <a:extLst>
              <a:ext uri="{FF2B5EF4-FFF2-40B4-BE49-F238E27FC236}">
                <a16:creationId xmlns:a16="http://schemas.microsoft.com/office/drawing/2014/main" id="{637D611D-1BA6-9FB8-AC0D-188F25285E8E}"/>
              </a:ext>
            </a:extLst>
          </p:cNvPr>
          <p:cNvSpPr txBox="1"/>
          <p:nvPr/>
        </p:nvSpPr>
        <p:spPr>
          <a:xfrm>
            <a:off x="6142905" y="6025610"/>
            <a:ext cx="5519396" cy="307777"/>
          </a:xfrm>
          <a:prstGeom prst="rect">
            <a:avLst/>
          </a:prstGeom>
          <a:noFill/>
        </p:spPr>
        <p:txBody>
          <a:bodyPr wrap="none" rtlCol="0">
            <a:spAutoFit/>
          </a:bodyPr>
          <a:lstStyle/>
          <a:p>
            <a:r>
              <a:rPr kumimoji="1" lang="en-US" altLang="ja-JP" sz="1400" dirty="0">
                <a:latin typeface="Meiryo UI" panose="020B0604030504040204" pitchFamily="50" charset="-128"/>
                <a:ea typeface="Meiryo UI" panose="020B0604030504040204" pitchFamily="50" charset="-128"/>
              </a:rPr>
              <a:t>https://www.env.go.jp/council/content/i_01/000221700.pdf</a:t>
            </a:r>
            <a:endParaRPr kumimoji="1" lang="ja-JP" altLang="en-US" sz="1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323485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77FC7-B0D1-3BF4-0A73-388165133D86}"/>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793C04E-27BB-F388-9F6D-AA5CCC174C5F}"/>
              </a:ext>
            </a:extLst>
          </p:cNvPr>
          <p:cNvSpPr txBox="1"/>
          <p:nvPr/>
        </p:nvSpPr>
        <p:spPr>
          <a:xfrm>
            <a:off x="197985" y="1820867"/>
            <a:ext cx="11796030" cy="3216265"/>
          </a:xfrm>
          <a:prstGeom prst="rect">
            <a:avLst/>
          </a:prstGeom>
          <a:noFill/>
        </p:spPr>
        <p:txBody>
          <a:bodyPr wrap="square" rtlCol="0">
            <a:spAutoFit/>
          </a:bodyPr>
          <a:lstStyle/>
          <a:p>
            <a:pPr marL="514350" indent="-514350">
              <a:spcBef>
                <a:spcPts val="600"/>
              </a:spcBef>
              <a:buFont typeface="Arial" panose="020B0604020202020204" pitchFamily="34" charset="0"/>
              <a:buChar char="•"/>
            </a:pPr>
            <a:r>
              <a:rPr lang="en-US" altLang="ja-JP" sz="32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Source documents: </a:t>
            </a:r>
          </a:p>
          <a:p>
            <a:pPr lvl="1">
              <a:spcBef>
                <a:spcPts val="600"/>
              </a:spcBef>
            </a:pPr>
            <a:r>
              <a:rPr lang="en-US" altLang="ja-JP" sz="32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Official PDFs from Ministry of the Environment (https://www.env.go.jp/council/02policy/yoshi02.html)</a:t>
            </a:r>
          </a:p>
          <a:p>
            <a:pPr marL="514350" indent="-514350">
              <a:lnSpc>
                <a:spcPct val="150000"/>
              </a:lnSpc>
              <a:spcBef>
                <a:spcPts val="600"/>
              </a:spcBef>
              <a:buFont typeface="Arial" panose="020B0604020202020204" pitchFamily="34" charset="0"/>
              <a:buChar char="•"/>
            </a:pPr>
            <a:r>
              <a:rPr lang="en-US" altLang="ja-JP" sz="32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Converted via Adobe Acrobat and MS Office tools</a:t>
            </a:r>
          </a:p>
          <a:p>
            <a:pPr marL="514350" indent="-514350">
              <a:lnSpc>
                <a:spcPct val="150000"/>
              </a:lnSpc>
              <a:spcBef>
                <a:spcPts val="600"/>
              </a:spcBef>
              <a:buFont typeface="Arial" panose="020B0604020202020204" pitchFamily="34" charset="0"/>
              <a:buChar char="•"/>
            </a:pPr>
            <a:r>
              <a:rPr lang="en-US" altLang="ja-JP" sz="32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Organized for automated analysis using </a:t>
            </a:r>
            <a:r>
              <a:rPr lang="en-US" altLang="ja-JP" sz="32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ChatGPT 4o</a:t>
            </a:r>
          </a:p>
        </p:txBody>
      </p:sp>
      <p:sp>
        <p:nvSpPr>
          <p:cNvPr id="3" name="テキスト ボックス 2">
            <a:extLst>
              <a:ext uri="{FF2B5EF4-FFF2-40B4-BE49-F238E27FC236}">
                <a16:creationId xmlns:a16="http://schemas.microsoft.com/office/drawing/2014/main" id="{B0776461-CE88-A21C-F7DA-F8182E78357B}"/>
              </a:ext>
            </a:extLst>
          </p:cNvPr>
          <p:cNvSpPr txBox="1"/>
          <p:nvPr/>
        </p:nvSpPr>
        <p:spPr>
          <a:xfrm>
            <a:off x="2257246" y="0"/>
            <a:ext cx="7677509" cy="854080"/>
          </a:xfrm>
          <a:prstGeom prst="rect">
            <a:avLst/>
          </a:prstGeom>
          <a:noFill/>
          <a:ln w="19050">
            <a:noFill/>
          </a:ln>
          <a:effectLst>
            <a:outerShdw blurRad="50800" dist="38100" dir="2700000" algn="tl" rotWithShape="0">
              <a:prstClr val="black">
                <a:alpha val="40000"/>
              </a:prstClr>
            </a:outerShdw>
          </a:effectLst>
        </p:spPr>
        <p:txBody>
          <a:bodyPr wrap="square" rtlCol="0">
            <a:spAutoFit/>
          </a:bodyPr>
          <a:lstStyle/>
          <a:p>
            <a:pPr algn="ctr">
              <a:lnSpc>
                <a:spcPct val="150000"/>
              </a:lnSpc>
            </a:pPr>
            <a:r>
              <a:rPr kumimoji="1"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3. </a:t>
            </a:r>
            <a:r>
              <a:rPr lang="en-US"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Data and Preprocessing</a:t>
            </a:r>
            <a:endParaRPr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168413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17DF2-218E-C75C-352D-81D38CB0E2F0}"/>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066CFE3-6E7D-D2CC-1228-11BC60163956}"/>
              </a:ext>
            </a:extLst>
          </p:cNvPr>
          <p:cNvSpPr txBox="1"/>
          <p:nvPr/>
        </p:nvSpPr>
        <p:spPr>
          <a:xfrm>
            <a:off x="1014714" y="854080"/>
            <a:ext cx="10162572" cy="4909036"/>
          </a:xfrm>
          <a:prstGeom prst="rect">
            <a:avLst/>
          </a:prstGeom>
          <a:noFill/>
        </p:spPr>
        <p:txBody>
          <a:bodyPr wrap="square" rtlCol="0">
            <a:spAutoFit/>
          </a:bodyPr>
          <a:lstStyle/>
          <a:p>
            <a:pPr>
              <a:lnSpc>
                <a:spcPct val="150000"/>
              </a:lnSpc>
              <a:spcBef>
                <a:spcPts val="600"/>
              </a:spcBef>
            </a:pPr>
            <a:r>
              <a:rPr lang="en-US" altLang="ja-JP" sz="28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(1) Matching Changes</a:t>
            </a:r>
          </a:p>
          <a:p>
            <a:pPr marL="457200" indent="-457200">
              <a:lnSpc>
                <a:spcPct val="150000"/>
              </a:lnSpc>
              <a:spcBef>
                <a:spcPts val="600"/>
              </a:spcBef>
              <a:buFont typeface="Wingdings" panose="05000000000000000000" pitchFamily="2" charset="2"/>
              <a:buChar char="ü"/>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Each pair was rated on a 4-point fulfillment scale:</a:t>
            </a:r>
          </a:p>
          <a:p>
            <a:pPr marL="914400" lvl="1" indent="-457200">
              <a:buFont typeface="Wingdings" panose="05000000000000000000" pitchFamily="2" charset="2"/>
              <a:buChar char="p"/>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4 = Fully fulfilled— the requested revision or addition was made as asked.</a:t>
            </a:r>
          </a:p>
          <a:p>
            <a:pPr marL="914400" lvl="1" indent="-457200">
              <a:buFont typeface="Wingdings" panose="05000000000000000000" pitchFamily="2" charset="2"/>
              <a:buChar char="p"/>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3</a:t>
            </a:r>
            <a:r>
              <a:rPr lang="ja-JP" altLang="en-US"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 </a:t>
            </a: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a:t>
            </a:r>
            <a:r>
              <a:rPr lang="ja-JP" altLang="en-US"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 </a:t>
            </a: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Partially fulfilled— the response addressed the comment in part or via alternative means.</a:t>
            </a:r>
          </a:p>
          <a:p>
            <a:pPr marL="914400" lvl="1" indent="-457200">
              <a:buFont typeface="Wingdings" panose="05000000000000000000" pitchFamily="2" charset="2"/>
              <a:buChar char="p"/>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2 = No change made, but the response claims the request is already fulfilled.</a:t>
            </a:r>
          </a:p>
          <a:p>
            <a:pPr marL="914400" lvl="1" indent="-457200">
              <a:buFont typeface="Wingdings" panose="05000000000000000000" pitchFamily="2" charset="2"/>
              <a:buChar char="p"/>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1 = Rejected— the request was not accepted or implemented.</a:t>
            </a:r>
            <a:endParaRPr lang="en-US" altLang="ja-JP" sz="36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2D61E39E-9B94-B034-3E8C-F44EBE861845}"/>
              </a:ext>
            </a:extLst>
          </p:cNvPr>
          <p:cNvSpPr txBox="1"/>
          <p:nvPr/>
        </p:nvSpPr>
        <p:spPr>
          <a:xfrm>
            <a:off x="2257246" y="0"/>
            <a:ext cx="7677509" cy="854080"/>
          </a:xfrm>
          <a:prstGeom prst="rect">
            <a:avLst/>
          </a:prstGeom>
          <a:noFill/>
          <a:ln w="19050">
            <a:noFill/>
          </a:ln>
          <a:effectLst>
            <a:outerShdw blurRad="50800" dist="38100" dir="2700000" algn="tl" rotWithShape="0">
              <a:prstClr val="black">
                <a:alpha val="40000"/>
              </a:prstClr>
            </a:outerShdw>
          </a:effectLst>
        </p:spPr>
        <p:txBody>
          <a:bodyPr wrap="square" rtlCol="0">
            <a:spAutoFit/>
          </a:bodyPr>
          <a:lstStyle/>
          <a:p>
            <a:pPr algn="ctr">
              <a:lnSpc>
                <a:spcPct val="150000"/>
              </a:lnSpc>
            </a:pPr>
            <a:r>
              <a:rPr kumimoji="1"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4. Methods</a:t>
            </a:r>
            <a:endParaRPr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26852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476DE-55FA-0575-7F39-05648F1CAD90}"/>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2552E21-B1E1-27EB-9291-1B838E7D4FC7}"/>
              </a:ext>
            </a:extLst>
          </p:cNvPr>
          <p:cNvSpPr txBox="1"/>
          <p:nvPr/>
        </p:nvSpPr>
        <p:spPr>
          <a:xfrm>
            <a:off x="1014714" y="854080"/>
            <a:ext cx="10162572" cy="5593839"/>
          </a:xfrm>
          <a:prstGeom prst="rect">
            <a:avLst/>
          </a:prstGeom>
          <a:noFill/>
        </p:spPr>
        <p:txBody>
          <a:bodyPr wrap="square" rtlCol="0">
            <a:spAutoFit/>
          </a:bodyPr>
          <a:lstStyle/>
          <a:p>
            <a:pPr>
              <a:lnSpc>
                <a:spcPct val="150000"/>
              </a:lnSpc>
              <a:spcBef>
                <a:spcPts val="600"/>
              </a:spcBef>
            </a:pPr>
            <a:r>
              <a:rPr lang="en-US" altLang="ja-JP" sz="28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(1) Matching Changes</a:t>
            </a:r>
          </a:p>
          <a:p>
            <a:pPr marL="457200" indent="-457200">
              <a:lnSpc>
                <a:spcPct val="150000"/>
              </a:lnSpc>
              <a:spcBef>
                <a:spcPts val="600"/>
              </a:spcBef>
              <a:buFont typeface="Arial" panose="020B0604020202020204" pitchFamily="34" charset="0"/>
              <a:buChar char="•"/>
            </a:pPr>
            <a:r>
              <a:rPr lang="en-US" altLang="ja-JP" sz="28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To identify whether and how public comments influenced actual revisions in the plan draft.</a:t>
            </a:r>
          </a:p>
          <a:p>
            <a:pPr marL="514350" indent="-514350">
              <a:lnSpc>
                <a:spcPct val="150000"/>
              </a:lnSpc>
              <a:spcBef>
                <a:spcPts val="6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Matched each comment–reply pair with draft revisions</a:t>
            </a:r>
          </a:p>
          <a:p>
            <a:pPr marL="514350" indent="-514350">
              <a:lnSpc>
                <a:spcPct val="150000"/>
              </a:lnSpc>
              <a:spcBef>
                <a:spcPts val="6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Used ChatGPT 4o API for matching process</a:t>
            </a:r>
          </a:p>
          <a:p>
            <a:pPr marL="514350" indent="-514350">
              <a:lnSpc>
                <a:spcPct val="150000"/>
              </a:lnSpc>
              <a:spcBef>
                <a:spcPts val="6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Focused on added and deleted text segments</a:t>
            </a:r>
          </a:p>
          <a:p>
            <a:pPr marL="514350" indent="-514350">
              <a:lnSpc>
                <a:spcPct val="150000"/>
              </a:lnSpc>
              <a:spcBef>
                <a:spcPts val="6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ChatGPT judged whether each comment–reply pair contributed to a specific change.</a:t>
            </a:r>
          </a:p>
        </p:txBody>
      </p:sp>
      <p:sp>
        <p:nvSpPr>
          <p:cNvPr id="3" name="テキスト ボックス 2">
            <a:extLst>
              <a:ext uri="{FF2B5EF4-FFF2-40B4-BE49-F238E27FC236}">
                <a16:creationId xmlns:a16="http://schemas.microsoft.com/office/drawing/2014/main" id="{2388CF77-9E24-4281-7318-5A12E7B825BE}"/>
              </a:ext>
            </a:extLst>
          </p:cNvPr>
          <p:cNvSpPr txBox="1"/>
          <p:nvPr/>
        </p:nvSpPr>
        <p:spPr>
          <a:xfrm>
            <a:off x="2257246" y="0"/>
            <a:ext cx="7677509" cy="854080"/>
          </a:xfrm>
          <a:prstGeom prst="rect">
            <a:avLst/>
          </a:prstGeom>
          <a:noFill/>
          <a:ln w="19050">
            <a:noFill/>
          </a:ln>
          <a:effectLst>
            <a:outerShdw blurRad="50800" dist="38100" dir="2700000" algn="tl" rotWithShape="0">
              <a:prstClr val="black">
                <a:alpha val="40000"/>
              </a:prstClr>
            </a:outerShdw>
          </a:effectLst>
        </p:spPr>
        <p:txBody>
          <a:bodyPr wrap="square" rtlCol="0">
            <a:spAutoFit/>
          </a:bodyPr>
          <a:lstStyle/>
          <a:p>
            <a:pPr algn="ctr">
              <a:lnSpc>
                <a:spcPct val="150000"/>
              </a:lnSpc>
            </a:pPr>
            <a:r>
              <a:rPr kumimoji="1"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4. Methods</a:t>
            </a:r>
            <a:endParaRPr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135734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23E71-A1BE-909E-2AD5-29057279BA5C}"/>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F04B09A-BABD-652C-666C-198163502153}"/>
              </a:ext>
            </a:extLst>
          </p:cNvPr>
          <p:cNvSpPr txBox="1"/>
          <p:nvPr/>
        </p:nvSpPr>
        <p:spPr>
          <a:xfrm>
            <a:off x="1014714" y="854080"/>
            <a:ext cx="9994662" cy="5386090"/>
          </a:xfrm>
          <a:prstGeom prst="rect">
            <a:avLst/>
          </a:prstGeom>
          <a:noFill/>
        </p:spPr>
        <p:txBody>
          <a:bodyPr wrap="square" rtlCol="0">
            <a:spAutoFit/>
          </a:bodyPr>
          <a:lstStyle/>
          <a:p>
            <a:pPr>
              <a:lnSpc>
                <a:spcPct val="150000"/>
              </a:lnSpc>
              <a:spcBef>
                <a:spcPts val="600"/>
              </a:spcBef>
            </a:pPr>
            <a:r>
              <a:rPr lang="en-US" altLang="ja-JP" sz="28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(1) Matching Changes</a:t>
            </a:r>
          </a:p>
          <a:p>
            <a:pPr marL="457200" indent="-457200">
              <a:lnSpc>
                <a:spcPct val="150000"/>
              </a:lnSpc>
              <a:spcBef>
                <a:spcPts val="600"/>
              </a:spcBef>
              <a:buFont typeface="Wingdings" panose="05000000000000000000" pitchFamily="2" charset="2"/>
              <a:buChar char="ü"/>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Returned relevant Change IDs and brief justifications.</a:t>
            </a:r>
          </a:p>
          <a:p>
            <a:pPr>
              <a:spcBef>
                <a:spcPts val="300"/>
              </a:spcBef>
            </a:pPr>
            <a:r>
              <a:rPr lang="en-US" altLang="ja-JP" sz="12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Comment:</a:t>
            </a:r>
            <a:r>
              <a:rPr lang="en-US" altLang="ja-JP" sz="12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 (Original Japanese) P9 L19</a:t>
            </a:r>
            <a:r>
              <a:rPr lang="ja-JP" altLang="en-US" sz="12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a:t>
            </a:r>
            <a:r>
              <a:rPr lang="en-US" altLang="ja-JP" sz="12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26 </a:t>
            </a:r>
            <a:r>
              <a:rPr lang="ja-JP" altLang="en-US" sz="12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クマ類について取り上げられているが、これより深刻化している鳥獣被害はシカであり、この種に関し、取り上げるべきと考える。つまり、国土強靭化基本計画で取り上げられているよう、森林生態系における二ホンジカ等による下層植生の衰退や裸地化に伴う土砂災害の発生の危険性について政府において認識されているところであり、ｐ</a:t>
            </a:r>
            <a:r>
              <a:rPr lang="en-US" altLang="ja-JP" sz="12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5 </a:t>
            </a:r>
            <a:r>
              <a:rPr lang="ja-JP" altLang="en-US" sz="12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の </a:t>
            </a:r>
            <a:r>
              <a:rPr lang="en-US" altLang="ja-JP" sz="12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18 </a:t>
            </a:r>
            <a:r>
              <a:rPr lang="ja-JP" altLang="en-US" sz="12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行で記載するところの基盤としての自然資本は重要であり、自然資本を維持・回復・充実は不可欠である。このため、クマ類よりも深刻化している二ホンジカ等による下層植生の衰退や裸地化に伴う土砂災害の発生の危険性を取り上げて記載すべきである。</a:t>
            </a:r>
          </a:p>
          <a:p>
            <a:pPr>
              <a:spcBef>
                <a:spcPts val="300"/>
              </a:spcBef>
            </a:pPr>
            <a:r>
              <a:rPr lang="en-US" altLang="ja-JP" sz="12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(English translation) While the draft mentions bears, a more pressing issue is the damage caused by deer. The Basic Plan for National Resilience already recognizes the risks of landslides due to the decline of understory vegetation and bare land caused by the overpopulation of Japanese deer. Since such ecosystem degradation undermines the natural capital mentioned on p.5, line 18, it is vital that the draft include reference to this more serious issue, rather than focusing solely on bears.</a:t>
            </a:r>
          </a:p>
          <a:p>
            <a:pPr>
              <a:spcBef>
                <a:spcPts val="300"/>
              </a:spcBef>
            </a:pPr>
            <a:r>
              <a:rPr lang="en-US" altLang="ja-JP" sz="12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Reply:</a:t>
            </a:r>
            <a:r>
              <a:rPr lang="en-US" altLang="ja-JP" sz="12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 (Original Japanese) </a:t>
            </a:r>
            <a:r>
              <a:rPr lang="ja-JP" altLang="en-US" sz="12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ご指摘を踏まえ、</a:t>
            </a:r>
            <a:r>
              <a:rPr lang="en-US" altLang="ja-JP" sz="12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P6 L21 </a:t>
            </a:r>
            <a:r>
              <a:rPr lang="ja-JP" altLang="en-US" sz="12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以降に、以下の文章を追記いたします。「また、ニホンジカの生息域の拡大や生息数の増加により、下層植生の衰退や裸地化等の森林生態系等への被害が深刻化しており、防災・減災等、森林の多面的機能が十分発揮されないことも懸念されている。」</a:t>
            </a:r>
          </a:p>
          <a:p>
            <a:pPr>
              <a:spcBef>
                <a:spcPts val="300"/>
              </a:spcBef>
            </a:pPr>
            <a:r>
              <a:rPr lang="en-US" altLang="ja-JP" sz="12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(English translation) Based on your feedback, we will add the following sentence after P6, L21: “Moreover, the expansion of the Japanese deer’s habitat and increase in population are causing serious damage to forest ecosystems, such as the decline of understory vegetation and land degradation. This is raising concerns about the diminished capacity of forests to serve their multifaceted functions, including disaster prevention and mitigation.”</a:t>
            </a:r>
          </a:p>
          <a:p>
            <a:pPr>
              <a:spcBef>
                <a:spcPts val="300"/>
              </a:spcBef>
            </a:pPr>
            <a:r>
              <a:rPr lang="en-US" altLang="ja-JP" sz="12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Request Fulfillment: </a:t>
            </a:r>
            <a:r>
              <a:rPr lang="en-US" altLang="ja-JP" sz="12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4, Reason: The administration has fully addressed the comment by adding a section that acknowledges the concerns raised about the impact of the expanding range and increasing population of deer on forest ecosystems, thus fulfilling the request to highlight this issue.</a:t>
            </a:r>
          </a:p>
          <a:p>
            <a:pPr>
              <a:spcBef>
                <a:spcPts val="300"/>
              </a:spcBef>
            </a:pPr>
            <a:r>
              <a:rPr lang="en-US" altLang="ja-JP" sz="12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Relevant changes:</a:t>
            </a:r>
            <a:r>
              <a:rPr lang="en-US" altLang="ja-JP" sz="12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 - Change ID: 11, Reason: Addition addresses deer impact on ecosystems</a:t>
            </a:r>
          </a:p>
        </p:txBody>
      </p:sp>
      <p:sp>
        <p:nvSpPr>
          <p:cNvPr id="3" name="テキスト ボックス 2">
            <a:extLst>
              <a:ext uri="{FF2B5EF4-FFF2-40B4-BE49-F238E27FC236}">
                <a16:creationId xmlns:a16="http://schemas.microsoft.com/office/drawing/2014/main" id="{C23B75D9-3D68-1758-F359-FFDC5CE8329A}"/>
              </a:ext>
            </a:extLst>
          </p:cNvPr>
          <p:cNvSpPr txBox="1"/>
          <p:nvPr/>
        </p:nvSpPr>
        <p:spPr>
          <a:xfrm>
            <a:off x="2257246" y="0"/>
            <a:ext cx="7677509" cy="854080"/>
          </a:xfrm>
          <a:prstGeom prst="rect">
            <a:avLst/>
          </a:prstGeom>
          <a:noFill/>
          <a:ln w="19050">
            <a:noFill/>
          </a:ln>
          <a:effectLst>
            <a:outerShdw blurRad="50800" dist="38100" dir="2700000" algn="tl" rotWithShape="0">
              <a:prstClr val="black">
                <a:alpha val="40000"/>
              </a:prstClr>
            </a:outerShdw>
          </a:effectLst>
        </p:spPr>
        <p:txBody>
          <a:bodyPr wrap="square" rtlCol="0">
            <a:spAutoFit/>
          </a:bodyPr>
          <a:lstStyle/>
          <a:p>
            <a:pPr algn="ctr">
              <a:lnSpc>
                <a:spcPct val="150000"/>
              </a:lnSpc>
            </a:pPr>
            <a:r>
              <a:rPr kumimoji="1"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4. Methods</a:t>
            </a:r>
            <a:endParaRPr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59840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47920-AF9B-1F32-A047-1F336E780171}"/>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D367058-37B4-4067-58DF-26AF90555FF6}"/>
              </a:ext>
            </a:extLst>
          </p:cNvPr>
          <p:cNvSpPr txBox="1"/>
          <p:nvPr/>
        </p:nvSpPr>
        <p:spPr>
          <a:xfrm>
            <a:off x="1014714" y="854080"/>
            <a:ext cx="10162572" cy="5447645"/>
          </a:xfrm>
          <a:prstGeom prst="rect">
            <a:avLst/>
          </a:prstGeom>
          <a:noFill/>
        </p:spPr>
        <p:txBody>
          <a:bodyPr wrap="square" rtlCol="0">
            <a:spAutoFit/>
          </a:bodyPr>
          <a:lstStyle/>
          <a:p>
            <a:pPr>
              <a:lnSpc>
                <a:spcPct val="150000"/>
              </a:lnSpc>
              <a:spcBef>
                <a:spcPts val="600"/>
              </a:spcBef>
            </a:pPr>
            <a:r>
              <a:rPr lang="en-US" altLang="ja-JP" sz="28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(2) Scoring “Meaningful Reply”</a:t>
            </a:r>
          </a:p>
          <a:p>
            <a:pPr marL="514350" indent="-514350">
              <a:lnSpc>
                <a:spcPct val="150000"/>
              </a:lnSpc>
              <a:spcBef>
                <a:spcPts val="6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Evaluated each administrative reply on a 5-point scale</a:t>
            </a:r>
          </a:p>
          <a:p>
            <a:pPr marL="514350" indent="-514350">
              <a:lnSpc>
                <a:spcPct val="150000"/>
              </a:lnSpc>
              <a:spcBef>
                <a:spcPts val="6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Criteria: relevance, completeness, clarity</a:t>
            </a:r>
          </a:p>
          <a:p>
            <a:pPr marL="514350" indent="-514350">
              <a:lnSpc>
                <a:spcPct val="150000"/>
              </a:lnSpc>
              <a:spcBef>
                <a:spcPts val="6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Meaningful Reply Scores:</a:t>
            </a:r>
          </a:p>
          <a:p>
            <a:pPr marL="914400" lvl="1" indent="-457200">
              <a:spcBef>
                <a:spcPts val="600"/>
              </a:spcBef>
              <a:buFont typeface="Wingdings" panose="05000000000000000000" pitchFamily="2" charset="2"/>
              <a:buChar char="p"/>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5 = fully addresses comment</a:t>
            </a:r>
          </a:p>
          <a:p>
            <a:pPr marL="914400" lvl="1" indent="-457200">
              <a:spcBef>
                <a:spcPts val="600"/>
              </a:spcBef>
              <a:buFont typeface="Wingdings" panose="05000000000000000000" pitchFamily="2" charset="2"/>
              <a:buChar char="p"/>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4 = mainly addresses</a:t>
            </a:r>
          </a:p>
          <a:p>
            <a:pPr marL="914400" lvl="1" indent="-457200">
              <a:spcBef>
                <a:spcPts val="600"/>
              </a:spcBef>
              <a:buFont typeface="Wingdings" panose="05000000000000000000" pitchFamily="2" charset="2"/>
              <a:buChar char="p"/>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3 = partially addresses</a:t>
            </a:r>
          </a:p>
          <a:p>
            <a:pPr marL="914400" lvl="1" indent="-457200">
              <a:spcBef>
                <a:spcPts val="600"/>
              </a:spcBef>
              <a:buFont typeface="Wingdings" panose="05000000000000000000" pitchFamily="2" charset="2"/>
              <a:buChar char="p"/>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2 = scarcely addresses</a:t>
            </a:r>
          </a:p>
          <a:p>
            <a:pPr marL="914400" lvl="1" indent="-457200">
              <a:spcBef>
                <a:spcPts val="600"/>
              </a:spcBef>
              <a:buFont typeface="Wingdings" panose="05000000000000000000" pitchFamily="2" charset="2"/>
              <a:buChar char="p"/>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1 = does not address</a:t>
            </a:r>
          </a:p>
        </p:txBody>
      </p:sp>
      <p:sp>
        <p:nvSpPr>
          <p:cNvPr id="3" name="テキスト ボックス 2">
            <a:extLst>
              <a:ext uri="{FF2B5EF4-FFF2-40B4-BE49-F238E27FC236}">
                <a16:creationId xmlns:a16="http://schemas.microsoft.com/office/drawing/2014/main" id="{4AA0C81B-00A3-564E-18B6-4B7A88B134A5}"/>
              </a:ext>
            </a:extLst>
          </p:cNvPr>
          <p:cNvSpPr txBox="1"/>
          <p:nvPr/>
        </p:nvSpPr>
        <p:spPr>
          <a:xfrm>
            <a:off x="2257246" y="0"/>
            <a:ext cx="7677509" cy="854080"/>
          </a:xfrm>
          <a:prstGeom prst="rect">
            <a:avLst/>
          </a:prstGeom>
          <a:noFill/>
          <a:ln w="19050">
            <a:noFill/>
          </a:ln>
          <a:effectLst>
            <a:outerShdw blurRad="50800" dist="38100" dir="2700000" algn="tl" rotWithShape="0">
              <a:prstClr val="black">
                <a:alpha val="40000"/>
              </a:prstClr>
            </a:outerShdw>
          </a:effectLst>
        </p:spPr>
        <p:txBody>
          <a:bodyPr wrap="square" rtlCol="0">
            <a:spAutoFit/>
          </a:bodyPr>
          <a:lstStyle/>
          <a:p>
            <a:pPr algn="ctr">
              <a:lnSpc>
                <a:spcPct val="150000"/>
              </a:lnSpc>
            </a:pPr>
            <a:r>
              <a:rPr kumimoji="1"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4. Methods</a:t>
            </a:r>
            <a:endParaRPr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0640163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59060-9912-A3E5-76ED-72C6EC85A966}"/>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0B599CD2-535A-6B3A-B30D-272D90F6A409}"/>
              </a:ext>
            </a:extLst>
          </p:cNvPr>
          <p:cNvSpPr txBox="1"/>
          <p:nvPr/>
        </p:nvSpPr>
        <p:spPr>
          <a:xfrm>
            <a:off x="1014714" y="854080"/>
            <a:ext cx="10162572" cy="4593565"/>
          </a:xfrm>
          <a:prstGeom prst="rect">
            <a:avLst/>
          </a:prstGeom>
          <a:noFill/>
        </p:spPr>
        <p:txBody>
          <a:bodyPr wrap="square" rtlCol="0">
            <a:spAutoFit/>
          </a:bodyPr>
          <a:lstStyle/>
          <a:p>
            <a:pPr>
              <a:lnSpc>
                <a:spcPct val="150000"/>
              </a:lnSpc>
              <a:spcBef>
                <a:spcPts val="600"/>
              </a:spcBef>
            </a:pPr>
            <a:r>
              <a:rPr lang="en-US" altLang="ja-JP" sz="28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(3) Comparative Analysis</a:t>
            </a:r>
          </a:p>
          <a:p>
            <a:pPr marL="514350" indent="-514350">
              <a:lnSpc>
                <a:spcPct val="150000"/>
              </a:lnSpc>
              <a:spcBef>
                <a:spcPts val="6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Divided comment–reply pairs:</a:t>
            </a:r>
          </a:p>
          <a:p>
            <a:pPr marL="971550" lvl="1" indent="-514350">
              <a:spcBef>
                <a:spcPts val="6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Contribution to draft revision (Yes)</a:t>
            </a:r>
          </a:p>
          <a:p>
            <a:pPr marL="971550" lvl="1" indent="-514350">
              <a:spcBef>
                <a:spcPts val="6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No contribution (No)</a:t>
            </a:r>
          </a:p>
          <a:p>
            <a:pPr marL="514350" indent="-514350">
              <a:lnSpc>
                <a:spcPct val="150000"/>
              </a:lnSpc>
              <a:spcBef>
                <a:spcPts val="6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Compared Meaningful Reply scores between groups</a:t>
            </a:r>
          </a:p>
          <a:p>
            <a:pPr marL="514350" indent="-514350">
              <a:lnSpc>
                <a:spcPct val="150000"/>
              </a:lnSpc>
              <a:spcBef>
                <a:spcPts val="6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Score distributions visualized (bar plots, boxplots)</a:t>
            </a:r>
          </a:p>
          <a:p>
            <a:pPr marL="514350" indent="-514350">
              <a:lnSpc>
                <a:spcPct val="150000"/>
              </a:lnSpc>
              <a:spcBef>
                <a:spcPts val="6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Mann–Whitney U test conducted</a:t>
            </a:r>
          </a:p>
        </p:txBody>
      </p:sp>
      <p:sp>
        <p:nvSpPr>
          <p:cNvPr id="3" name="テキスト ボックス 2">
            <a:extLst>
              <a:ext uri="{FF2B5EF4-FFF2-40B4-BE49-F238E27FC236}">
                <a16:creationId xmlns:a16="http://schemas.microsoft.com/office/drawing/2014/main" id="{ED01B283-7C5D-3D70-7331-0894DF3B6378}"/>
              </a:ext>
            </a:extLst>
          </p:cNvPr>
          <p:cNvSpPr txBox="1"/>
          <p:nvPr/>
        </p:nvSpPr>
        <p:spPr>
          <a:xfrm>
            <a:off x="2257246" y="0"/>
            <a:ext cx="7677509" cy="854080"/>
          </a:xfrm>
          <a:prstGeom prst="rect">
            <a:avLst/>
          </a:prstGeom>
          <a:noFill/>
          <a:ln w="19050">
            <a:noFill/>
          </a:ln>
          <a:effectLst>
            <a:outerShdw blurRad="50800" dist="38100" dir="2700000" algn="tl" rotWithShape="0">
              <a:prstClr val="black">
                <a:alpha val="40000"/>
              </a:prstClr>
            </a:outerShdw>
          </a:effectLst>
        </p:spPr>
        <p:txBody>
          <a:bodyPr wrap="square" rtlCol="0">
            <a:spAutoFit/>
          </a:bodyPr>
          <a:lstStyle/>
          <a:p>
            <a:pPr algn="ctr">
              <a:lnSpc>
                <a:spcPct val="150000"/>
              </a:lnSpc>
            </a:pPr>
            <a:r>
              <a:rPr kumimoji="1"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4. Methods</a:t>
            </a:r>
            <a:endParaRPr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72778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051C3CA7-02D4-5AB5-55ED-A84D3733F3D7}"/>
              </a:ext>
            </a:extLst>
          </p:cNvPr>
          <p:cNvPicPr>
            <a:picLocks noChangeAspect="1"/>
          </p:cNvPicPr>
          <p:nvPr/>
        </p:nvPicPr>
        <p:blipFill>
          <a:blip r:embed="rId2"/>
          <a:stretch>
            <a:fillRect/>
          </a:stretch>
        </p:blipFill>
        <p:spPr>
          <a:xfrm>
            <a:off x="635555" y="1030423"/>
            <a:ext cx="5205407" cy="3600000"/>
          </a:xfrm>
          <a:prstGeom prst="rect">
            <a:avLst/>
          </a:prstGeom>
        </p:spPr>
      </p:pic>
      <p:pic>
        <p:nvPicPr>
          <p:cNvPr id="3" name="図 2">
            <a:extLst>
              <a:ext uri="{FF2B5EF4-FFF2-40B4-BE49-F238E27FC236}">
                <a16:creationId xmlns:a16="http://schemas.microsoft.com/office/drawing/2014/main" id="{F8C9551C-1741-ABC6-964D-9F8DA37C340B}"/>
              </a:ext>
            </a:extLst>
          </p:cNvPr>
          <p:cNvPicPr>
            <a:picLocks noChangeAspect="1"/>
          </p:cNvPicPr>
          <p:nvPr/>
        </p:nvPicPr>
        <p:blipFill>
          <a:blip r:embed="rId3"/>
          <a:stretch>
            <a:fillRect/>
          </a:stretch>
        </p:blipFill>
        <p:spPr>
          <a:xfrm>
            <a:off x="6460499" y="1030423"/>
            <a:ext cx="5095946" cy="3600000"/>
          </a:xfrm>
          <a:prstGeom prst="rect">
            <a:avLst/>
          </a:prstGeom>
        </p:spPr>
      </p:pic>
      <p:sp>
        <p:nvSpPr>
          <p:cNvPr id="4" name="テキスト ボックス 1">
            <a:extLst>
              <a:ext uri="{FF2B5EF4-FFF2-40B4-BE49-F238E27FC236}">
                <a16:creationId xmlns:a16="http://schemas.microsoft.com/office/drawing/2014/main" id="{3B9E7DAB-6587-145E-8243-B24D1958A9ED}"/>
              </a:ext>
            </a:extLst>
          </p:cNvPr>
          <p:cNvSpPr txBox="1"/>
          <p:nvPr/>
        </p:nvSpPr>
        <p:spPr>
          <a:xfrm>
            <a:off x="985191" y="4793846"/>
            <a:ext cx="4506134" cy="1292662"/>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spAutoFit/>
          </a:bodyPr>
          <a:lstStyle/>
          <a:p>
            <a:pPr algn="ctr"/>
            <a:r>
              <a:rPr lang="en-US" sz="2800" b="1" dirty="0">
                <a:effectLst/>
                <a:latin typeface="Times New Roman" panose="02020603050405020304" pitchFamily="18" charset="0"/>
                <a:ea typeface="Segoe UI" panose="020B0502040204020203" pitchFamily="34" charset="0"/>
                <a:cs typeface="ＭＳ Ｐゴシック" panose="020B0600070205080204" pitchFamily="50" charset="-128"/>
              </a:rPr>
              <a:t>Figure 1</a:t>
            </a:r>
            <a:r>
              <a:rPr lang="en-US" sz="2800" b="1" dirty="0">
                <a:effectLst/>
                <a:latin typeface="Times New Roman" panose="02020603050405020304" pitchFamily="18" charset="0"/>
                <a:ea typeface="ＭＳ 明朝" panose="02020609040205080304" pitchFamily="17" charset="-128"/>
                <a:cs typeface="ＭＳ Ｐゴシック" panose="020B0600070205080204" pitchFamily="50" charset="-128"/>
              </a:rPr>
              <a:t>: Distribution of Meaningful Reply (Contribution = No, n=298)</a:t>
            </a:r>
            <a:endParaRPr lang="ja-JP" sz="3600" b="1" dirty="0">
              <a:effectLst/>
              <a:latin typeface="Segoe UI" panose="020B0502040204020203" pitchFamily="34" charset="0"/>
              <a:ea typeface="Segoe UI" panose="020B0502040204020203" pitchFamily="34" charset="0"/>
              <a:cs typeface="ＭＳ Ｐゴシック" panose="020B0600070205080204" pitchFamily="50" charset="-128"/>
            </a:endParaRPr>
          </a:p>
        </p:txBody>
      </p:sp>
      <p:sp>
        <p:nvSpPr>
          <p:cNvPr id="5" name="テキスト ボックス 1">
            <a:extLst>
              <a:ext uri="{FF2B5EF4-FFF2-40B4-BE49-F238E27FC236}">
                <a16:creationId xmlns:a16="http://schemas.microsoft.com/office/drawing/2014/main" id="{2241B75C-3F71-B01F-3675-A941F549F081}"/>
              </a:ext>
            </a:extLst>
          </p:cNvPr>
          <p:cNvSpPr txBox="1"/>
          <p:nvPr/>
        </p:nvSpPr>
        <p:spPr>
          <a:xfrm>
            <a:off x="6937654" y="4793846"/>
            <a:ext cx="4141636" cy="1292662"/>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spAutoFit/>
          </a:bodyPr>
          <a:lstStyle/>
          <a:p>
            <a:pPr algn="ctr"/>
            <a:r>
              <a:rPr lang="en-US" sz="2800" b="1" dirty="0">
                <a:effectLst/>
                <a:latin typeface="Times New Roman" panose="02020603050405020304" pitchFamily="18" charset="0"/>
                <a:ea typeface="Segoe UI" panose="020B0502040204020203" pitchFamily="34" charset="0"/>
                <a:cs typeface="ＭＳ Ｐゴシック" panose="020B0600070205080204" pitchFamily="50" charset="-128"/>
              </a:rPr>
              <a:t>Figure 2</a:t>
            </a:r>
            <a:r>
              <a:rPr lang="en-US" sz="2800" b="1" dirty="0">
                <a:effectLst/>
                <a:latin typeface="Times New Roman" panose="02020603050405020304" pitchFamily="18" charset="0"/>
                <a:ea typeface="ＭＳ 明朝" panose="02020609040205080304" pitchFamily="17" charset="-128"/>
                <a:cs typeface="ＭＳ Ｐゴシック" panose="020B0600070205080204" pitchFamily="50" charset="-128"/>
              </a:rPr>
              <a:t>: Distribution of Meaningful Reply (Contribution = Yes, n=84)</a:t>
            </a:r>
            <a:endParaRPr lang="ja-JP" sz="3600" b="1" dirty="0">
              <a:effectLst/>
              <a:latin typeface="Segoe UI" panose="020B0502040204020203" pitchFamily="34" charset="0"/>
              <a:ea typeface="Segoe UI" panose="020B0502040204020203" pitchFamily="34" charset="0"/>
              <a:cs typeface="ＭＳ Ｐゴシック" panose="020B0600070205080204" pitchFamily="50" charset="-128"/>
            </a:endParaRPr>
          </a:p>
        </p:txBody>
      </p:sp>
      <p:sp>
        <p:nvSpPr>
          <p:cNvPr id="6" name="テキスト ボックス 5">
            <a:extLst>
              <a:ext uri="{FF2B5EF4-FFF2-40B4-BE49-F238E27FC236}">
                <a16:creationId xmlns:a16="http://schemas.microsoft.com/office/drawing/2014/main" id="{428F321C-E56B-E324-5F6A-2403894DED0F}"/>
              </a:ext>
            </a:extLst>
          </p:cNvPr>
          <p:cNvSpPr txBox="1"/>
          <p:nvPr/>
        </p:nvSpPr>
        <p:spPr>
          <a:xfrm>
            <a:off x="2257246" y="0"/>
            <a:ext cx="7677509" cy="854080"/>
          </a:xfrm>
          <a:prstGeom prst="rect">
            <a:avLst/>
          </a:prstGeom>
          <a:noFill/>
          <a:ln w="19050">
            <a:noFill/>
          </a:ln>
          <a:effectLst>
            <a:outerShdw blurRad="50800" dist="38100" dir="2700000" algn="tl" rotWithShape="0">
              <a:prstClr val="black">
                <a:alpha val="40000"/>
              </a:prstClr>
            </a:outerShdw>
          </a:effectLst>
        </p:spPr>
        <p:txBody>
          <a:bodyPr wrap="square" rtlCol="0">
            <a:spAutoFit/>
          </a:bodyPr>
          <a:lstStyle/>
          <a:p>
            <a:pPr algn="ctr">
              <a:lnSpc>
                <a:spcPct val="150000"/>
              </a:lnSpc>
            </a:pPr>
            <a:r>
              <a:rPr kumimoji="1"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5. Results</a:t>
            </a:r>
            <a:endParaRPr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701501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26A126F7-020F-EC57-65D3-3365C5E3486B}"/>
              </a:ext>
            </a:extLst>
          </p:cNvPr>
          <p:cNvPicPr>
            <a:picLocks noChangeAspect="1"/>
          </p:cNvPicPr>
          <p:nvPr/>
        </p:nvPicPr>
        <p:blipFill>
          <a:blip r:embed="rId2"/>
          <a:stretch>
            <a:fillRect/>
          </a:stretch>
        </p:blipFill>
        <p:spPr>
          <a:xfrm>
            <a:off x="2728282" y="860663"/>
            <a:ext cx="6735434" cy="4602980"/>
          </a:xfrm>
          <a:prstGeom prst="rect">
            <a:avLst/>
          </a:prstGeom>
        </p:spPr>
      </p:pic>
      <p:sp>
        <p:nvSpPr>
          <p:cNvPr id="3" name="テキスト ボックス 1">
            <a:extLst>
              <a:ext uri="{FF2B5EF4-FFF2-40B4-BE49-F238E27FC236}">
                <a16:creationId xmlns:a16="http://schemas.microsoft.com/office/drawing/2014/main" id="{3443FC79-1088-EF39-0AED-BFB569D77C95}"/>
              </a:ext>
            </a:extLst>
          </p:cNvPr>
          <p:cNvSpPr txBox="1"/>
          <p:nvPr/>
        </p:nvSpPr>
        <p:spPr>
          <a:xfrm>
            <a:off x="3009504" y="5418475"/>
            <a:ext cx="6172991" cy="861774"/>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spAutoFit/>
          </a:bodyPr>
          <a:lstStyle/>
          <a:p>
            <a:pPr algn="ctr"/>
            <a:r>
              <a:rPr lang="en-US" sz="2800" b="1" dirty="0">
                <a:effectLst/>
                <a:latin typeface="Times New Roman" panose="02020603050405020304" pitchFamily="18" charset="0"/>
                <a:ea typeface="Segoe UI" panose="020B0502040204020203" pitchFamily="34" charset="0"/>
                <a:cs typeface="ＭＳ Ｐゴシック" panose="020B0600070205080204" pitchFamily="50" charset="-128"/>
              </a:rPr>
              <a:t>Figure 3: Boxplot of Meaningful Reply by Contribution Group</a:t>
            </a:r>
            <a:endParaRPr lang="ja-JP" sz="3600" b="1" dirty="0">
              <a:effectLst/>
              <a:latin typeface="Segoe UI" panose="020B0502040204020203" pitchFamily="34" charset="0"/>
              <a:ea typeface="Segoe UI" panose="020B0502040204020203" pitchFamily="34" charset="0"/>
              <a:cs typeface="ＭＳ Ｐゴシック" panose="020B0600070205080204" pitchFamily="50" charset="-128"/>
            </a:endParaRPr>
          </a:p>
        </p:txBody>
      </p:sp>
      <p:sp>
        <p:nvSpPr>
          <p:cNvPr id="4" name="テキスト ボックス 3">
            <a:extLst>
              <a:ext uri="{FF2B5EF4-FFF2-40B4-BE49-F238E27FC236}">
                <a16:creationId xmlns:a16="http://schemas.microsoft.com/office/drawing/2014/main" id="{3F56AF66-78F2-8828-ADA3-172F20A7CABC}"/>
              </a:ext>
            </a:extLst>
          </p:cNvPr>
          <p:cNvSpPr txBox="1"/>
          <p:nvPr/>
        </p:nvSpPr>
        <p:spPr>
          <a:xfrm>
            <a:off x="2257246" y="0"/>
            <a:ext cx="7677509" cy="854080"/>
          </a:xfrm>
          <a:prstGeom prst="rect">
            <a:avLst/>
          </a:prstGeom>
          <a:noFill/>
          <a:ln w="19050">
            <a:noFill/>
          </a:ln>
          <a:effectLst>
            <a:outerShdw blurRad="50800" dist="38100" dir="2700000" algn="tl" rotWithShape="0">
              <a:prstClr val="black">
                <a:alpha val="40000"/>
              </a:prstClr>
            </a:outerShdw>
          </a:effectLst>
        </p:spPr>
        <p:txBody>
          <a:bodyPr wrap="square" rtlCol="0">
            <a:spAutoFit/>
          </a:bodyPr>
          <a:lstStyle/>
          <a:p>
            <a:pPr algn="ctr">
              <a:lnSpc>
                <a:spcPct val="150000"/>
              </a:lnSpc>
            </a:pPr>
            <a:r>
              <a:rPr kumimoji="1"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5. Results</a:t>
            </a:r>
            <a:endParaRPr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076874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 8">
            <a:extLst>
              <a:ext uri="{FF2B5EF4-FFF2-40B4-BE49-F238E27FC236}">
                <a16:creationId xmlns:a16="http://schemas.microsoft.com/office/drawing/2014/main" id="{A97962B4-2922-7625-D92C-24B59FC9B419}"/>
              </a:ext>
            </a:extLst>
          </p:cNvPr>
          <p:cNvGraphicFramePr>
            <a:graphicFrameLocks noGrp="1"/>
          </p:cNvGraphicFramePr>
          <p:nvPr>
            <p:extLst>
              <p:ext uri="{D42A27DB-BD31-4B8C-83A1-F6EECF244321}">
                <p14:modId xmlns:p14="http://schemas.microsoft.com/office/powerpoint/2010/main" val="1728981058"/>
              </p:ext>
            </p:extLst>
          </p:nvPr>
        </p:nvGraphicFramePr>
        <p:xfrm>
          <a:off x="1297709" y="1648779"/>
          <a:ext cx="9596582" cy="4366953"/>
        </p:xfrm>
        <a:graphic>
          <a:graphicData uri="http://schemas.openxmlformats.org/drawingml/2006/table">
            <a:tbl>
              <a:tblPr firstRow="1" firstCol="1" bandRow="1"/>
              <a:tblGrid>
                <a:gridCol w="4800321">
                  <a:extLst>
                    <a:ext uri="{9D8B030D-6E8A-4147-A177-3AD203B41FA5}">
                      <a16:colId xmlns:a16="http://schemas.microsoft.com/office/drawing/2014/main" val="762944222"/>
                    </a:ext>
                  </a:extLst>
                </a:gridCol>
                <a:gridCol w="4796261">
                  <a:extLst>
                    <a:ext uri="{9D8B030D-6E8A-4147-A177-3AD203B41FA5}">
                      <a16:colId xmlns:a16="http://schemas.microsoft.com/office/drawing/2014/main" val="1289383571"/>
                    </a:ext>
                  </a:extLst>
                </a:gridCol>
              </a:tblGrid>
              <a:tr h="718249">
                <a:tc>
                  <a:txBody>
                    <a:bodyPr/>
                    <a:lstStyle/>
                    <a:p>
                      <a:pPr marL="63500" marR="93345" algn="ctr">
                        <a:buNone/>
                      </a:pPr>
                      <a:r>
                        <a:rPr lang="en-US" sz="3200" b="1" dirty="0">
                          <a:effectLst/>
                          <a:latin typeface="Times New Roman" panose="02020603050405020304" pitchFamily="18" charset="0"/>
                          <a:ea typeface="ＭＳ 明朝" panose="02020609040205080304" pitchFamily="17" charset="-128"/>
                          <a:cs typeface="Times New Roman" panose="02020603050405020304" pitchFamily="18" charset="0"/>
                        </a:rPr>
                        <a:t>Indicator</a:t>
                      </a:r>
                      <a:endParaRPr lang="ja-JP" sz="3200" dirty="0">
                        <a:effectLst/>
                        <a:latin typeface="Segoe UI" panose="020B0502040204020203" pitchFamily="34" charset="0"/>
                        <a:ea typeface="Segoe UI" panose="020B0502040204020203" pitchFamily="34" charset="0"/>
                        <a:cs typeface="Times New Roman" panose="02020603050405020304" pitchFamily="18" charset="0"/>
                      </a:endParaRPr>
                    </a:p>
                  </a:txBody>
                  <a:tcPr marL="68580" marR="68580" marT="0" marB="0" anchor="ctr">
                    <a:lnL w="19050" cap="flat" cmpd="dbl"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noFill/>
                  </a:tcPr>
                </a:tc>
                <a:tc>
                  <a:txBody>
                    <a:bodyPr/>
                    <a:lstStyle/>
                    <a:p>
                      <a:pPr marL="63500" marR="93345" algn="ctr">
                        <a:buNone/>
                      </a:pPr>
                      <a:r>
                        <a:rPr lang="en-US" sz="3200" b="1" dirty="0">
                          <a:effectLst/>
                          <a:latin typeface="Times New Roman" panose="02020603050405020304" pitchFamily="18" charset="0"/>
                          <a:ea typeface="ＭＳ 明朝" panose="02020609040205080304" pitchFamily="17" charset="-128"/>
                          <a:cs typeface="Times New Roman" panose="02020603050405020304" pitchFamily="18" charset="0"/>
                        </a:rPr>
                        <a:t>Output</a:t>
                      </a:r>
                      <a:endParaRPr lang="ja-JP" sz="3200" dirty="0">
                        <a:effectLst/>
                        <a:latin typeface="Segoe UI" panose="020B0502040204020203" pitchFamily="34" charset="0"/>
                        <a:ea typeface="Segoe UI" panose="020B0502040204020203" pitchFamily="34" charset="0"/>
                        <a:cs typeface="Times New Roman" panose="02020603050405020304" pitchFamily="18" charset="0"/>
                      </a:endParaRPr>
                    </a:p>
                  </a:txBody>
                  <a:tcPr marL="68580" marR="68580" marT="0" marB="0" anchor="ctr">
                    <a:lnL w="19050" cap="flat" cmpd="dbl"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noFill/>
                  </a:tcPr>
                </a:tc>
                <a:extLst>
                  <a:ext uri="{0D108BD9-81ED-4DB2-BD59-A6C34878D82A}">
                    <a16:rowId xmlns:a16="http://schemas.microsoft.com/office/drawing/2014/main" val="2805111266"/>
                  </a:ext>
                </a:extLst>
              </a:tr>
              <a:tr h="718249">
                <a:tc>
                  <a:txBody>
                    <a:bodyPr/>
                    <a:lstStyle/>
                    <a:p>
                      <a:pPr marL="63500" marR="93345" algn="ctr">
                        <a:buNone/>
                      </a:pPr>
                      <a:r>
                        <a:rPr lang="en-US" sz="3200" dirty="0">
                          <a:effectLst/>
                          <a:latin typeface="Times New Roman" panose="02020603050405020304" pitchFamily="18" charset="0"/>
                          <a:ea typeface="ＭＳ 明朝" panose="02020609040205080304" pitchFamily="17" charset="-128"/>
                          <a:cs typeface="Times New Roman" panose="02020603050405020304" pitchFamily="18" charset="0"/>
                        </a:rPr>
                        <a:t>U statistics:</a:t>
                      </a:r>
                      <a:endParaRPr lang="ja-JP" sz="3200" dirty="0">
                        <a:effectLst/>
                        <a:latin typeface="Segoe UI" panose="020B0502040204020203" pitchFamily="34" charset="0"/>
                        <a:ea typeface="Segoe UI" panose="020B0502040204020203"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3500" marR="93345" algn="ctr">
                        <a:buNone/>
                      </a:pPr>
                      <a:r>
                        <a:rPr lang="en-US" sz="3200" dirty="0">
                          <a:effectLst/>
                          <a:latin typeface="Times New Roman" panose="02020603050405020304" pitchFamily="18" charset="0"/>
                          <a:ea typeface="ＭＳ 明朝" panose="02020609040205080304" pitchFamily="17" charset="-128"/>
                          <a:cs typeface="Times New Roman" panose="02020603050405020304" pitchFamily="18" charset="0"/>
                        </a:rPr>
                        <a:t>6334.0</a:t>
                      </a:r>
                      <a:endParaRPr lang="ja-JP" sz="3200" dirty="0">
                        <a:effectLst/>
                        <a:latin typeface="Segoe UI" panose="020B0502040204020203" pitchFamily="34" charset="0"/>
                        <a:ea typeface="Segoe UI" panose="020B0502040204020203"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41570402"/>
                  </a:ext>
                </a:extLst>
              </a:tr>
              <a:tr h="718249">
                <a:tc>
                  <a:txBody>
                    <a:bodyPr/>
                    <a:lstStyle/>
                    <a:p>
                      <a:pPr marL="63500" marR="93345" algn="ctr">
                        <a:buNone/>
                      </a:pPr>
                      <a:r>
                        <a:rPr lang="en-US" sz="3200" dirty="0">
                          <a:effectLst/>
                          <a:latin typeface="Times New Roman" panose="02020603050405020304" pitchFamily="18" charset="0"/>
                          <a:ea typeface="ＭＳ 明朝" panose="02020609040205080304" pitchFamily="17" charset="-128"/>
                          <a:cs typeface="Times New Roman" panose="02020603050405020304" pitchFamily="18" charset="0"/>
                        </a:rPr>
                        <a:t>P-value:</a:t>
                      </a:r>
                      <a:endParaRPr lang="ja-JP" sz="3200" dirty="0">
                        <a:effectLst/>
                        <a:latin typeface="Segoe UI" panose="020B0502040204020203" pitchFamily="34" charset="0"/>
                        <a:ea typeface="Segoe UI" panose="020B0502040204020203"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3500" marR="93345" algn="ctr">
                        <a:buNone/>
                      </a:pPr>
                      <a:r>
                        <a:rPr lang="en-US" sz="3200" dirty="0">
                          <a:effectLst/>
                          <a:latin typeface="Times New Roman" panose="02020603050405020304" pitchFamily="18" charset="0"/>
                          <a:ea typeface="ＭＳ 明朝" panose="02020609040205080304" pitchFamily="17" charset="-128"/>
                          <a:cs typeface="Times New Roman" panose="02020603050405020304" pitchFamily="18" charset="0"/>
                        </a:rPr>
                        <a:t>p &lt; 0.001</a:t>
                      </a:r>
                      <a:endParaRPr lang="ja-JP" sz="3200" dirty="0">
                        <a:effectLst/>
                        <a:latin typeface="Segoe UI" panose="020B0502040204020203" pitchFamily="34" charset="0"/>
                        <a:ea typeface="Segoe UI" panose="020B0502040204020203"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185528"/>
                  </a:ext>
                </a:extLst>
              </a:tr>
              <a:tr h="1106103">
                <a:tc>
                  <a:txBody>
                    <a:bodyPr/>
                    <a:lstStyle/>
                    <a:p>
                      <a:pPr marL="63500" marR="93345" algn="ctr">
                        <a:buNone/>
                      </a:pPr>
                      <a:r>
                        <a:rPr lang="en-US" sz="3200">
                          <a:effectLst/>
                          <a:latin typeface="Times New Roman" panose="02020603050405020304" pitchFamily="18" charset="0"/>
                          <a:ea typeface="ＭＳ 明朝" panose="02020609040205080304" pitchFamily="17" charset="-128"/>
                          <a:cs typeface="Times New Roman" panose="02020603050405020304" pitchFamily="18" charset="0"/>
                        </a:rPr>
                        <a:t>Contribution = No (n=298), Mean:</a:t>
                      </a:r>
                      <a:endParaRPr lang="ja-JP" sz="3200">
                        <a:effectLst/>
                        <a:latin typeface="Segoe UI" panose="020B0502040204020203" pitchFamily="34" charset="0"/>
                        <a:ea typeface="Segoe UI" panose="020B0502040204020203"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3500" marR="93345" algn="ctr">
                        <a:buNone/>
                      </a:pPr>
                      <a:r>
                        <a:rPr lang="en-US" sz="3200" dirty="0">
                          <a:effectLst/>
                          <a:latin typeface="Times New Roman" panose="02020603050405020304" pitchFamily="18" charset="0"/>
                          <a:ea typeface="ＭＳ 明朝" panose="02020609040205080304" pitchFamily="17" charset="-128"/>
                          <a:cs typeface="Times New Roman" panose="02020603050405020304" pitchFamily="18" charset="0"/>
                        </a:rPr>
                        <a:t>3.13</a:t>
                      </a:r>
                      <a:endParaRPr lang="ja-JP" sz="3200" dirty="0">
                        <a:effectLst/>
                        <a:latin typeface="Segoe UI" panose="020B0502040204020203" pitchFamily="34" charset="0"/>
                        <a:ea typeface="Segoe UI" panose="020B0502040204020203"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80745781"/>
                  </a:ext>
                </a:extLst>
              </a:tr>
              <a:tr h="1106103">
                <a:tc>
                  <a:txBody>
                    <a:bodyPr/>
                    <a:lstStyle/>
                    <a:p>
                      <a:pPr marL="63500" marR="93345" algn="ctr">
                        <a:buNone/>
                      </a:pPr>
                      <a:r>
                        <a:rPr lang="en-US" sz="3200">
                          <a:effectLst/>
                          <a:latin typeface="Times New Roman" panose="02020603050405020304" pitchFamily="18" charset="0"/>
                          <a:ea typeface="ＭＳ 明朝" panose="02020609040205080304" pitchFamily="17" charset="-128"/>
                          <a:cs typeface="Times New Roman" panose="02020603050405020304" pitchFamily="18" charset="0"/>
                        </a:rPr>
                        <a:t>Contribution = Yes (n=84), Mean:</a:t>
                      </a:r>
                      <a:endParaRPr lang="ja-JP" sz="3200">
                        <a:effectLst/>
                        <a:latin typeface="Segoe UI" panose="020B0502040204020203" pitchFamily="34" charset="0"/>
                        <a:ea typeface="Segoe UI" panose="020B0502040204020203"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3500" marR="93345" algn="ctr">
                        <a:buNone/>
                      </a:pPr>
                      <a:r>
                        <a:rPr lang="en-US" sz="3200" dirty="0">
                          <a:effectLst/>
                          <a:latin typeface="Times New Roman" panose="02020603050405020304" pitchFamily="18" charset="0"/>
                          <a:ea typeface="ＭＳ 明朝" panose="02020609040205080304" pitchFamily="17" charset="-128"/>
                          <a:cs typeface="Times New Roman" panose="02020603050405020304" pitchFamily="18" charset="0"/>
                        </a:rPr>
                        <a:t>4.01</a:t>
                      </a:r>
                      <a:endParaRPr lang="ja-JP" sz="3200" dirty="0">
                        <a:effectLst/>
                        <a:latin typeface="Segoe UI" panose="020B0502040204020203" pitchFamily="34" charset="0"/>
                        <a:ea typeface="Segoe UI" panose="020B0502040204020203"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74789832"/>
                  </a:ext>
                </a:extLst>
              </a:tr>
            </a:tbl>
          </a:graphicData>
        </a:graphic>
      </p:graphicFrame>
      <p:sp>
        <p:nvSpPr>
          <p:cNvPr id="10" name="テキスト ボックス 1">
            <a:extLst>
              <a:ext uri="{FF2B5EF4-FFF2-40B4-BE49-F238E27FC236}">
                <a16:creationId xmlns:a16="http://schemas.microsoft.com/office/drawing/2014/main" id="{F9AB0402-453F-47E2-ABFA-F69074B0705E}"/>
              </a:ext>
            </a:extLst>
          </p:cNvPr>
          <p:cNvSpPr txBox="1"/>
          <p:nvPr/>
        </p:nvSpPr>
        <p:spPr>
          <a:xfrm>
            <a:off x="1572377" y="1113985"/>
            <a:ext cx="9047246" cy="430887"/>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spAutoFit/>
          </a:bodyPr>
          <a:lstStyle/>
          <a:p>
            <a:pPr algn="ctr"/>
            <a:r>
              <a:rPr lang="en-US" sz="2800" b="1" dirty="0">
                <a:effectLst/>
                <a:latin typeface="Times New Roman" panose="02020603050405020304" pitchFamily="18" charset="0"/>
                <a:ea typeface="Segoe UI" panose="020B0502040204020203" pitchFamily="34" charset="0"/>
                <a:cs typeface="ＭＳ Ｐゴシック" panose="020B0600070205080204" pitchFamily="50" charset="-128"/>
              </a:rPr>
              <a:t>Table 1: Mann-Whitney U Test</a:t>
            </a:r>
            <a:r>
              <a:rPr lang="ja-JP" altLang="en-US" sz="2800" b="1" dirty="0">
                <a:latin typeface="Times New Roman" panose="02020603050405020304" pitchFamily="18" charset="0"/>
                <a:ea typeface="Segoe UI" panose="020B0502040204020203" pitchFamily="34" charset="0"/>
                <a:cs typeface="ＭＳ Ｐゴシック" panose="020B0600070205080204" pitchFamily="50" charset="-128"/>
              </a:rPr>
              <a:t> </a:t>
            </a:r>
            <a:r>
              <a:rPr lang="en-US" altLang="ja-JP" sz="2800" b="1" dirty="0">
                <a:latin typeface="Times New Roman" panose="02020603050405020304" pitchFamily="18" charset="0"/>
                <a:ea typeface="Segoe UI" panose="020B0502040204020203" pitchFamily="34" charset="0"/>
                <a:cs typeface="ＭＳ Ｐゴシック" panose="020B0600070205080204" pitchFamily="50" charset="-128"/>
              </a:rPr>
              <a:t>(Meaningful Reply)</a:t>
            </a:r>
            <a:endParaRPr lang="ja-JP" sz="3600" b="1" dirty="0">
              <a:effectLst/>
              <a:latin typeface="Segoe UI" panose="020B0502040204020203" pitchFamily="34" charset="0"/>
              <a:ea typeface="Segoe UI" panose="020B0502040204020203" pitchFamily="34" charset="0"/>
              <a:cs typeface="ＭＳ Ｐゴシック" panose="020B0600070205080204" pitchFamily="50" charset="-128"/>
            </a:endParaRPr>
          </a:p>
        </p:txBody>
      </p:sp>
      <p:sp>
        <p:nvSpPr>
          <p:cNvPr id="2" name="テキスト ボックス 1">
            <a:extLst>
              <a:ext uri="{FF2B5EF4-FFF2-40B4-BE49-F238E27FC236}">
                <a16:creationId xmlns:a16="http://schemas.microsoft.com/office/drawing/2014/main" id="{4125D393-7F34-6072-B789-5B81DA679DD2}"/>
              </a:ext>
            </a:extLst>
          </p:cNvPr>
          <p:cNvSpPr txBox="1"/>
          <p:nvPr/>
        </p:nvSpPr>
        <p:spPr>
          <a:xfrm>
            <a:off x="2257246" y="0"/>
            <a:ext cx="7677509" cy="854080"/>
          </a:xfrm>
          <a:prstGeom prst="rect">
            <a:avLst/>
          </a:prstGeom>
          <a:noFill/>
          <a:ln w="19050">
            <a:noFill/>
          </a:ln>
          <a:effectLst>
            <a:outerShdw blurRad="50800" dist="38100" dir="2700000" algn="tl" rotWithShape="0">
              <a:prstClr val="black">
                <a:alpha val="40000"/>
              </a:prstClr>
            </a:outerShdw>
          </a:effectLst>
        </p:spPr>
        <p:txBody>
          <a:bodyPr wrap="square" rtlCol="0">
            <a:spAutoFit/>
          </a:bodyPr>
          <a:lstStyle/>
          <a:p>
            <a:pPr algn="ctr">
              <a:lnSpc>
                <a:spcPct val="150000"/>
              </a:lnSpc>
            </a:pPr>
            <a:r>
              <a:rPr kumimoji="1"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5. Results</a:t>
            </a:r>
            <a:endParaRPr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473098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E7271-1967-B9B2-149F-B41BF09FAFE5}"/>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2A76B04F-C57E-C1BB-5B5D-B936D0B70782}"/>
              </a:ext>
            </a:extLst>
          </p:cNvPr>
          <p:cNvSpPr txBox="1"/>
          <p:nvPr/>
        </p:nvSpPr>
        <p:spPr>
          <a:xfrm>
            <a:off x="599313" y="854080"/>
            <a:ext cx="10993374" cy="5516895"/>
          </a:xfrm>
          <a:prstGeom prst="rect">
            <a:avLst/>
          </a:prstGeom>
          <a:noFill/>
        </p:spPr>
        <p:txBody>
          <a:bodyPr wrap="square" rtlCol="0">
            <a:spAutoFit/>
          </a:bodyPr>
          <a:lstStyle/>
          <a:p>
            <a:pPr marL="457200" indent="-457200">
              <a:lnSpc>
                <a:spcPct val="150000"/>
              </a:lnSpc>
              <a:spcBef>
                <a:spcPts val="600"/>
              </a:spcBef>
              <a:buFont typeface="Arial" panose="020B0604020202020204" pitchFamily="34" charset="0"/>
              <a:buChar char="•"/>
            </a:pPr>
            <a:r>
              <a:rPr kumimoji="1" lang="en-US" altLang="ja-JP" sz="28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84/382 (22%) of public comments led to revisions.</a:t>
            </a:r>
          </a:p>
          <a:p>
            <a:pPr marL="457200" indent="-457200">
              <a:lnSpc>
                <a:spcPct val="150000"/>
              </a:lnSpc>
              <a:spcBef>
                <a:spcPts val="600"/>
              </a:spcBef>
              <a:buFont typeface="Arial" panose="020B0604020202020204" pitchFamily="34" charset="0"/>
              <a:buChar char="•"/>
            </a:pPr>
            <a:r>
              <a:rPr kumimoji="1" lang="en-US" altLang="ja-JP" sz="28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LLM-based evaluation reveals hidden stakeholder influence.</a:t>
            </a:r>
          </a:p>
          <a:p>
            <a:pPr marL="457200" indent="-457200">
              <a:lnSpc>
                <a:spcPct val="150000"/>
              </a:lnSpc>
              <a:spcBef>
                <a:spcPts val="600"/>
              </a:spcBef>
              <a:buFont typeface="Arial" panose="020B0604020202020204" pitchFamily="34" charset="0"/>
              <a:buChar char="•"/>
            </a:pPr>
            <a:r>
              <a:rPr kumimoji="1" lang="en-US" altLang="ja-JP" sz="28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Meaningful Reply can be operationalized quantitatively.</a:t>
            </a:r>
          </a:p>
          <a:p>
            <a:pPr marL="457200" indent="-457200">
              <a:lnSpc>
                <a:spcPct val="150000"/>
              </a:lnSpc>
              <a:spcBef>
                <a:spcPts val="600"/>
              </a:spcBef>
              <a:buFont typeface="Arial" panose="020B0604020202020204" pitchFamily="34" charset="0"/>
              <a:buChar char="•"/>
            </a:pPr>
            <a:r>
              <a:rPr kumimoji="1" lang="en-US" altLang="ja-JP" sz="28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Public input not merely recorded, but often substantively reflected.</a:t>
            </a:r>
          </a:p>
          <a:p>
            <a:pPr marL="457200" indent="-457200">
              <a:lnSpc>
                <a:spcPct val="150000"/>
              </a:lnSpc>
              <a:spcBef>
                <a:spcPts val="600"/>
              </a:spcBef>
              <a:buFont typeface="Arial" panose="020B0604020202020204" pitchFamily="34" charset="0"/>
              <a:buChar char="•"/>
            </a:pPr>
            <a:r>
              <a:rPr kumimoji="1" lang="en-US" altLang="ja-JP" sz="28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To</a:t>
            </a:r>
            <a:r>
              <a:rPr kumimoji="1" lang="ja-JP" altLang="en-US" sz="28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 </a:t>
            </a:r>
            <a:r>
              <a:rPr kumimoji="1" lang="en-US" altLang="ja-JP" sz="28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some</a:t>
            </a:r>
            <a:r>
              <a:rPr kumimoji="1" lang="ja-JP" altLang="en-US" sz="28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 </a:t>
            </a:r>
            <a:r>
              <a:rPr kumimoji="1" lang="en-US" altLang="ja-JP" sz="28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extent, LLMs enhance transparency and reproducibility in evaluation.</a:t>
            </a:r>
          </a:p>
        </p:txBody>
      </p:sp>
      <p:sp>
        <p:nvSpPr>
          <p:cNvPr id="10" name="テキスト ボックス 9">
            <a:extLst>
              <a:ext uri="{FF2B5EF4-FFF2-40B4-BE49-F238E27FC236}">
                <a16:creationId xmlns:a16="http://schemas.microsoft.com/office/drawing/2014/main" id="{E65CBED8-8DC1-6C71-94C1-6BF791F8D53B}"/>
              </a:ext>
            </a:extLst>
          </p:cNvPr>
          <p:cNvSpPr txBox="1"/>
          <p:nvPr/>
        </p:nvSpPr>
        <p:spPr>
          <a:xfrm>
            <a:off x="2257246" y="0"/>
            <a:ext cx="7677509" cy="854080"/>
          </a:xfrm>
          <a:prstGeom prst="rect">
            <a:avLst/>
          </a:prstGeom>
          <a:noFill/>
          <a:ln w="19050">
            <a:noFill/>
          </a:ln>
          <a:effectLst>
            <a:outerShdw blurRad="50800" dist="38100" dir="2700000" algn="tl" rotWithShape="0">
              <a:prstClr val="black">
                <a:alpha val="40000"/>
              </a:prstClr>
            </a:outerShdw>
          </a:effectLst>
        </p:spPr>
        <p:txBody>
          <a:bodyPr wrap="square" rtlCol="0">
            <a:spAutoFit/>
          </a:bodyPr>
          <a:lstStyle/>
          <a:p>
            <a:pPr algn="ctr">
              <a:lnSpc>
                <a:spcPct val="150000"/>
              </a:lnSpc>
            </a:pPr>
            <a:r>
              <a:rPr kumimoji="1"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6. Conclusion</a:t>
            </a:r>
          </a:p>
        </p:txBody>
      </p:sp>
    </p:spTree>
    <p:extLst>
      <p:ext uri="{BB962C8B-B14F-4D97-AF65-F5344CB8AC3E}">
        <p14:creationId xmlns:p14="http://schemas.microsoft.com/office/powerpoint/2010/main" val="29447483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85481-420D-E875-0E46-36092159CF71}"/>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D7F9425-1852-A8EB-6597-FB71854CF6C0}"/>
              </a:ext>
            </a:extLst>
          </p:cNvPr>
          <p:cNvSpPr txBox="1"/>
          <p:nvPr/>
        </p:nvSpPr>
        <p:spPr>
          <a:xfrm>
            <a:off x="777353" y="854080"/>
            <a:ext cx="10637294" cy="5401479"/>
          </a:xfrm>
          <a:prstGeom prst="rect">
            <a:avLst/>
          </a:prstGeom>
          <a:noFill/>
        </p:spPr>
        <p:txBody>
          <a:bodyPr wrap="square" rtlCol="0">
            <a:spAutoFit/>
          </a:bodyPr>
          <a:lstStyle/>
          <a:p>
            <a:pPr marL="514350" indent="-514350">
              <a:spcBef>
                <a:spcPts val="18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Study limited to a single policy cycle</a:t>
            </a:r>
          </a:p>
          <a:p>
            <a:pPr marL="514350" indent="-514350">
              <a:spcBef>
                <a:spcPts val="18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Difficulties aligning AI and nuanced human judgments</a:t>
            </a:r>
          </a:p>
          <a:p>
            <a:pPr marL="514350" indent="-514350">
              <a:spcBef>
                <a:spcPts val="18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Need for cross-sectoral validation</a:t>
            </a:r>
          </a:p>
          <a:p>
            <a:pPr marL="514350" indent="-514350">
              <a:spcBef>
                <a:spcPts val="18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Future directions:</a:t>
            </a:r>
          </a:p>
          <a:p>
            <a:pPr marL="971550" lvl="1" indent="-514350">
              <a:spcBef>
                <a:spcPts val="6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Comparative Analysis of Public and Expert Influence on Policy Changes</a:t>
            </a:r>
          </a:p>
          <a:p>
            <a:pPr marL="971550" lvl="1" indent="-514350">
              <a:spcBef>
                <a:spcPts val="6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Examine differential adoption patterns between expert input and citizen input</a:t>
            </a:r>
          </a:p>
          <a:p>
            <a:pPr marL="971550" lvl="1" indent="-514350">
              <a:spcBef>
                <a:spcPts val="6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Calibration against human evaluation</a:t>
            </a:r>
          </a:p>
          <a:p>
            <a:pPr marL="971550" lvl="1" indent="-514350">
              <a:spcBef>
                <a:spcPts val="600"/>
              </a:spcBef>
              <a:buFont typeface="Arial" panose="020B0604020202020204" pitchFamily="34" charset="0"/>
              <a:buChar char="•"/>
            </a:pPr>
            <a:r>
              <a:rPr lang="en-US" altLang="ja-JP" sz="28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Expansion to other environmental and policy fields</a:t>
            </a:r>
          </a:p>
        </p:txBody>
      </p:sp>
      <p:sp>
        <p:nvSpPr>
          <p:cNvPr id="3" name="テキスト ボックス 2">
            <a:extLst>
              <a:ext uri="{FF2B5EF4-FFF2-40B4-BE49-F238E27FC236}">
                <a16:creationId xmlns:a16="http://schemas.microsoft.com/office/drawing/2014/main" id="{70192820-05C3-0A26-67A7-D169C39B88E1}"/>
              </a:ext>
            </a:extLst>
          </p:cNvPr>
          <p:cNvSpPr txBox="1"/>
          <p:nvPr/>
        </p:nvSpPr>
        <p:spPr>
          <a:xfrm>
            <a:off x="1847951" y="0"/>
            <a:ext cx="8496098" cy="854080"/>
          </a:xfrm>
          <a:prstGeom prst="rect">
            <a:avLst/>
          </a:prstGeom>
          <a:noFill/>
          <a:ln w="19050">
            <a:noFill/>
          </a:ln>
          <a:effectLst>
            <a:outerShdw blurRad="50800" dist="38100" dir="2700000" algn="tl" rotWithShape="0">
              <a:prstClr val="black">
                <a:alpha val="40000"/>
              </a:prstClr>
            </a:outerShdw>
          </a:effectLst>
        </p:spPr>
        <p:txBody>
          <a:bodyPr wrap="square" rtlCol="0">
            <a:spAutoFit/>
          </a:bodyPr>
          <a:lstStyle/>
          <a:p>
            <a:pPr algn="ctr">
              <a:lnSpc>
                <a:spcPct val="150000"/>
              </a:lnSpc>
            </a:pPr>
            <a:r>
              <a:rPr kumimoji="1" lang="en"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7. </a:t>
            </a:r>
            <a:r>
              <a:rPr kumimoji="1" lang="en-US" altLang="ja-JP" sz="36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Limitations and Future Works</a:t>
            </a:r>
          </a:p>
        </p:txBody>
      </p:sp>
    </p:spTree>
    <p:extLst>
      <p:ext uri="{BB962C8B-B14F-4D97-AF65-F5344CB8AC3E}">
        <p14:creationId xmlns:p14="http://schemas.microsoft.com/office/powerpoint/2010/main" val="30737866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half" idx="13"/>
          </p:nvPr>
        </p:nvSpPr>
        <p:spPr/>
        <p:txBody>
          <a:bodyPr/>
          <a:lstStyle/>
          <a:p>
            <a:r>
              <a:rPr lang="en-US" dirty="0"/>
              <a:t>Kohei ISHII </a:t>
            </a:r>
            <a:r>
              <a:rPr lang="en-US" b="0" dirty="0"/>
              <a:t>1</a:t>
            </a:r>
            <a:r>
              <a:rPr lang="en-US" dirty="0"/>
              <a:t>, Akihiro KAMEDA </a:t>
            </a:r>
            <a:r>
              <a:rPr lang="en-US" b="0" dirty="0"/>
              <a:t>2</a:t>
            </a:r>
            <a:r>
              <a:rPr lang="en-US" dirty="0"/>
              <a:t> </a:t>
            </a:r>
          </a:p>
        </p:txBody>
      </p:sp>
      <p:sp>
        <p:nvSpPr>
          <p:cNvPr id="3" name="Text Placeholder 2"/>
          <p:cNvSpPr>
            <a:spLocks noGrp="1"/>
          </p:cNvSpPr>
          <p:nvPr>
            <p:ph type="body" sz="half" idx="14"/>
          </p:nvPr>
        </p:nvSpPr>
        <p:spPr/>
        <p:txBody>
          <a:bodyPr>
            <a:normAutofit fontScale="85000" lnSpcReduction="10000"/>
          </a:bodyPr>
          <a:lstStyle/>
          <a:p>
            <a:r>
              <a:rPr lang="en-US" dirty="0"/>
              <a:t>1: PhD Student/Chiba University; 2: Researcher/National Institutes for the Humanities </a:t>
            </a:r>
          </a:p>
        </p:txBody>
      </p:sp>
      <p:sp>
        <p:nvSpPr>
          <p:cNvPr id="4" name="Text Placeholder 3"/>
          <p:cNvSpPr>
            <a:spLocks noGrp="1"/>
          </p:cNvSpPr>
          <p:nvPr>
            <p:ph type="body" sz="half" idx="15"/>
          </p:nvPr>
        </p:nvSpPr>
        <p:spPr/>
        <p:txBody>
          <a:bodyPr>
            <a:normAutofit lnSpcReduction="10000"/>
          </a:bodyPr>
          <a:lstStyle/>
          <a:p>
            <a:r>
              <a:rPr lang="en-US" dirty="0"/>
              <a:t>Japan</a:t>
            </a:r>
          </a:p>
        </p:txBody>
      </p:sp>
      <p:sp>
        <p:nvSpPr>
          <p:cNvPr id="6" name="Text Placeholder 5"/>
          <p:cNvSpPr>
            <a:spLocks noGrp="1"/>
          </p:cNvSpPr>
          <p:nvPr>
            <p:ph type="body" sz="half" idx="17"/>
          </p:nvPr>
        </p:nvSpPr>
        <p:spPr/>
        <p:txBody>
          <a:bodyPr>
            <a:normAutofit lnSpcReduction="10000"/>
          </a:bodyPr>
          <a:lstStyle/>
          <a:p>
            <a:r>
              <a:rPr lang="en-US" dirty="0"/>
              <a:t>E-mail: koukou1011.15@gmail.com</a:t>
            </a:r>
          </a:p>
        </p:txBody>
      </p:sp>
      <p:sp>
        <p:nvSpPr>
          <p:cNvPr id="7" name="Text Placeholder 6"/>
          <p:cNvSpPr>
            <a:spLocks noGrp="1"/>
          </p:cNvSpPr>
          <p:nvPr>
            <p:ph type="body" sz="half" idx="18"/>
          </p:nvPr>
        </p:nvSpPr>
        <p:spPr/>
        <p:txBody>
          <a:bodyPr>
            <a:normAutofit lnSpcReduction="10000"/>
          </a:bodyPr>
          <a:lstStyle/>
          <a:p>
            <a:r>
              <a:rPr lang="en-US" dirty="0"/>
              <a:t>Linked In: https://www.linkedin.com/in/kohei-ishii-a83bb2281/</a:t>
            </a:r>
          </a:p>
        </p:txBody>
      </p:sp>
    </p:spTree>
    <p:extLst>
      <p:ext uri="{BB962C8B-B14F-4D97-AF65-F5344CB8AC3E}">
        <p14:creationId xmlns:p14="http://schemas.microsoft.com/office/powerpoint/2010/main" val="1483218035"/>
      </p:ext>
    </p:extLst>
  </p:cSld>
  <p:clrMapOvr>
    <a:masterClrMapping/>
  </p:clrMapOvr>
</p:sld>
</file>

<file path=ppt/theme/theme1.xml><?xml version="1.0" encoding="utf-8"?>
<a:theme xmlns:a="http://schemas.openxmlformats.org/drawingml/2006/main" name="Retrospec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599</TotalTime>
  <Words>1287</Words>
  <Application>Microsoft Office PowerPoint</Application>
  <PresentationFormat>ワイド画面</PresentationFormat>
  <Paragraphs>127</Paragraphs>
  <Slides>19</Slides>
  <Notes>1</Notes>
  <HiddenSlides>0</HiddenSlides>
  <MMClips>0</MMClips>
  <ScaleCrop>false</ScaleCrop>
  <HeadingPairs>
    <vt:vector size="6" baseType="variant">
      <vt:variant>
        <vt:lpstr>使用されているフォント</vt:lpstr>
      </vt:variant>
      <vt:variant>
        <vt:i4>12</vt:i4>
      </vt:variant>
      <vt:variant>
        <vt:lpstr>テーマ</vt:lpstr>
      </vt:variant>
      <vt:variant>
        <vt:i4>1</vt:i4>
      </vt:variant>
      <vt:variant>
        <vt:lpstr>スライド タイトル</vt:lpstr>
      </vt:variant>
      <vt:variant>
        <vt:i4>19</vt:i4>
      </vt:variant>
    </vt:vector>
  </HeadingPairs>
  <TitlesOfParts>
    <vt:vector size="32" baseType="lpstr">
      <vt:lpstr>gg sans</vt:lpstr>
      <vt:lpstr>inherit</vt:lpstr>
      <vt:lpstr>Meiryo UI</vt:lpstr>
      <vt:lpstr>メイリオ</vt:lpstr>
      <vt:lpstr>游ゴシック</vt:lpstr>
      <vt:lpstr>Aptos</vt:lpstr>
      <vt:lpstr>Arial</vt:lpstr>
      <vt:lpstr>Calibri</vt:lpstr>
      <vt:lpstr>Calibri Light</vt:lpstr>
      <vt:lpstr>Segoe UI</vt:lpstr>
      <vt:lpstr>Times New Roman</vt:lpstr>
      <vt:lpstr>Wingdings</vt:lpstr>
      <vt:lpstr>Retrospect</vt:lpstr>
      <vt:lpstr>Leveraging LLMs to Evaluate Public Comments on Japan's Environmental Plans</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Shelli@iaia.org</dc:creator>
  <cp:lastModifiedBy>cdma4792</cp:lastModifiedBy>
  <cp:revision>44</cp:revision>
  <dcterms:created xsi:type="dcterms:W3CDTF">2021-03-12T15:33:11Z</dcterms:created>
  <dcterms:modified xsi:type="dcterms:W3CDTF">2025-05-02T08:09:58Z</dcterms:modified>
</cp:coreProperties>
</file>